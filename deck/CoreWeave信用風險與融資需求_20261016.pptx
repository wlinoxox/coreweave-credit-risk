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9"/>
    <p:sldId id="257" r:id="rId10"/>
    <p:sldId id="258" r:id="rId8"/>
    <p:sldId id="259" r:id="rId7"/>
    <p:sldId id="260" r:id="rId6"/>
    <p:sldId id="261" r:id="rId5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擔保貸款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Sheet1!$A$2:$A$8</c:f>
              <c:strCache>
                <c:ptCount val="7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  <c:pt idx="4">
                  <c:v>2032</c:v>
                </c:pt>
                <c:pt idx="5">
                  <c:v>2033</c:v>
                </c:pt>
                <c:pt idx="6">
                  <c:v>未揭露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15.0</c:v>
                </c:pt>
                <c:pt idx="1">
                  <c:v>12.2</c:v>
                </c:pt>
                <c:pt idx="2">
                  <c:v>79.1</c:v>
                </c:pt>
                <c:pt idx="3">
                  <c:v>23.0</c:v>
                </c:pt>
                <c:pt idx="4">
                  <c:v>29.0</c:v>
                </c:pt>
                <c:pt idx="5">
                  <c:v>0</c:v>
                </c:pt>
                <c:pt idx="6">
                  <c:v>75.0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無擔保債與可轉債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Sheet1!$A$2:$A$8</c:f>
              <c:strCache>
                <c:ptCount val="7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  <c:pt idx="4">
                  <c:v>2032</c:v>
                </c:pt>
                <c:pt idx="5">
                  <c:v>2033</c:v>
                </c:pt>
                <c:pt idx="6">
                  <c:v>未揭露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20.1</c:v>
                </c:pt>
                <c:pt idx="3">
                  <c:v>70.9</c:v>
                </c:pt>
                <c:pt idx="4">
                  <c:v>74.8</c:v>
                </c:pt>
                <c:pt idx="5">
                  <c:v>42.0</c:v>
                </c:pt>
                <c:pt idx="6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DDTL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可轉債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25.9</c:v>
                </c:pt>
                <c:pt idx="1">
                  <c:v>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無擔保債</c:v>
                </c:pt>
              </c:strCache>
            </c:strRef>
          </c:tx>
          <c:spPr>
            <a:solidFill>
              <a:srgbClr val="4DB848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37.5</c:v>
                </c:pt>
                <c:pt idx="1">
                  <c:v>62.3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調整後營業利益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10.6</c:v>
                </c:pt>
                <c:pt idx="2">
                  <c:v>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利息費用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12.3</c:v>
                </c:pt>
                <c:pt idx="1">
                  <c:v>30.4</c:v>
                </c:pt>
                <c:pt idx="2">
                  <c:v>52.7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營運現金流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30.6</c:v>
                </c:pt>
                <c:pt idx="1">
                  <c:v>89.4</c:v>
                </c:pt>
                <c:pt idx="2">
                  <c:v>177.8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資本支出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-103.1</c:v>
                </c:pt>
                <c:pt idx="1">
                  <c:v>-357.1</c:v>
                </c:pt>
                <c:pt idx="2">
                  <c:v>-482.8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自由現金流</c:v>
                </c:pt>
              </c:strCache>
            </c:strRef>
          </c:tx>
          <c:spPr>
            <a:solidFill>
              <a:srgbClr val="4DB848"/>
            </a:solidFill>
          </c:spPr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-72.5</c:v>
                </c:pt>
                <c:pt idx="1">
                  <c:v>-272.0</c:v>
                </c:pt>
                <c:pt idx="2">
                  <c:v>-306.1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subtitle here</a:t>
            </a:r>
            <a:r>
              <a:rPr lang="en-US" altLang="zh-TW" dirty="0"/>
              <a:t>/</a:t>
            </a:r>
            <a:r>
              <a:rPr lang="zh-TW" altLang="en-US" dirty="0"/>
              <a:t>副標題</a:t>
            </a:r>
            <a:endParaRPr lang="en-GB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dirty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</a:p>
          <a:p>
            <a:pPr lvl="0"/>
            <a:r>
              <a:rPr lang="en-US" dirty="0"/>
              <a:t>Name / Presenter</a:t>
            </a:r>
            <a:br>
              <a:rPr lang="en-US" dirty="0"/>
            </a:br>
            <a:r>
              <a:rPr lang="en-US" dirty="0"/>
              <a:t>Company Name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  <a:br>
              <a:rPr lang="en-US" dirty="0"/>
            </a:br>
            <a:r>
              <a:rPr lang="en-US" altLang="zh-TW" dirty="0"/>
              <a:t>Company Name</a:t>
            </a:r>
            <a:endParaRPr lang="en-GB" dirty="0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GB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 dirty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section here</a:t>
            </a:r>
            <a:r>
              <a:rPr lang="en-US" altLang="zh-TW" dirty="0"/>
              <a:t>/</a:t>
            </a:r>
            <a:r>
              <a:rPr lang="zh-TW" altLang="en-US" dirty="0"/>
              <a:t>過場頁</a:t>
            </a:r>
            <a:endParaRPr lang="en-GB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subsection here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 dirty="0"/>
              <a:t>01</a:t>
            </a:r>
            <a:r>
              <a:rPr lang="en-US" altLang="zh-TW" dirty="0"/>
              <a:t>/</a:t>
            </a:r>
            <a:r>
              <a:rPr lang="zh-TW" altLang="en-US" dirty="0"/>
              <a:t>章節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 dirty="0">
                <a:solidFill>
                  <a:schemeClr val="tx2"/>
                </a:solidFill>
              </a:rPr>
              <a:t>THANK YOU</a:t>
            </a:r>
            <a:endParaRPr kumimoji="1" lang="zh-TW" altLang="en-US" sz="6600" b="1" dirty="0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jpg"/><Relationship Id="rId4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1143003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債務結構、發債量與融資缺口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CoreWeave 信用風險與融資需求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2026.10.16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結論摘要</a:t>
            </a:r>
          </a:p>
          <a:p>
            <a:r>
              <a:t>信用市場訊號</a:t>
            </a:r>
          </a:p>
          <a:p>
            <a:r>
              <a:t>債務結構與發債量</a:t>
            </a:r>
          </a:p>
          <a:p>
            <a:r>
              <a:t>融資需求</a:t>
            </a:r>
          </a:p>
          <a:p>
            <a:r>
              <a:t>其他風險與後續觀察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結論摘要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七大風險面向：兩項高、三項偏高、兩項中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市場訊號：5Y CDS 1,087bp（一年前 359bp），隱含 5 年違約機率約 60%</a:t>
            </a:r>
          </a:p>
          <a:p>
            <a:pPr lvl="1"/>
            <a:r>
              <a:t>無擔保債跌破 80 美分；評等 Ba3／B+／BB-，S&amp;P 與 Fitch 仍為正向展望</a:t>
            </a:r>
          </a:p>
          <a:p>
            <a:pPr/>
            <a:r>
              <a:t>債務：總債務 441 億美元；2026 年截至 9 月新增約 286 億，為 2025 年的 2.4 倍</a:t>
            </a:r>
          </a:p>
          <a:p>
            <a:pPr/>
            <a:r>
              <a:t>償債：共識 2026E 營業利益只夠支付 35% 的利息，2027E 為 78%</a:t>
            </a:r>
          </a:p>
          <a:p>
            <a:pPr/>
            <a:r>
              <a:t>融資：共識 2026E、2027E 自由現金流約 −272、−306 億美元，每年須發債逾 300 億</a:t>
            </a:r>
          </a:p>
          <a:p>
            <a:pPr/>
            <a:r>
              <a:t>關鍵：專案層 DDTL 仍借得到；公司層只能靠可轉債與增資，股東稀釋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信用指標進入困境區間，核心問題在公司層融資管道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資料來源：Bloomberg（CDS、DDIS、RATC、BEst 共識）、CoreWeave 公司公告；資料日期：2026/10/16。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七大風險面向：市場信用與償債能力為高風險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710"/>
                <a:gridCol w="1526740"/>
                <a:gridCol w="6615877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風險面向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風險程度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重點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1. 市場隱含信用風險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CDS 1,087bp，無擔保債價 &lt; 80，殖利率 &gt;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2. 再融資與流動性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共識 2026–27 年自由現金流合計約 −580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3. 獲利與償債能力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共識 2026E 營業利益／利息僅 0.35 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4. 客戶集中與交易對手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前兩大客戶約占營收 65%，曝險移向 OpenAI、Meta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5. 執行與交付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全年營收集中下半年，Q3 財報為首個檢驗點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6. 擔保品與技術折舊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擔保貸款 233 億美元；貸款約 5 年 vs. 合約約 3 年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7. 傳染與系統風險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偏高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Nebius、Oracle 同步下跌，被視為 AI 信貸指標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資料來源：Bloomberg、CoreWeave 10-Q、CNBC；本報告整理；資料日期：2026/10/16。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信用市場訊號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CDS、債券價格與評等落差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10 月初約 850bp，兩週內擴大約 250bp；以回收率 40% 計，隱含 5 年違約機率約 60%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5Y CDS 一年內由 359bp 升至 1,087bp，10/14 創 1,118bp 新高</a:t>
            </a:r>
          </a:p>
        </p:txBody>
      </p:sp>
      <p:pic>
        <p:nvPicPr>
          <p:cNvPr id="5" name="Picture 4" descr="cds_b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8" y="1628775"/>
            <a:ext cx="11323328" cy="4326031"/>
          </a:xfrm>
          <a:prstGeom prst="rect">
            <a:avLst/>
          </a:prstGeom>
        </p:spPr>
      </p:pic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資料來源：Bloomberg（CRWV CDS USD SR 5Y D14）；資料日期：2026/10/16。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無擔保債跌破 80，S&amp;P 與 Fitch 卻仍為正向展望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0038"/>
                <a:gridCol w="3100435"/>
                <a:gridCol w="4852854"/>
              </a:tblGrid>
              <a:tr h="3556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數值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說明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5Y CDS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1,086.8bp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10/14 高點 1,117.8bp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 年 9% 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79.9／殖利率 15.6%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TRACE 10/14（媒體報導）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 年 1.75% 可轉債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81.37／殖利率 6.04%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利差 115bp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 年 1.75% 可轉債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77.11／殖利率 6.44%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利差 155bp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2033 年 2.875% 可轉債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89.73／殖利率 4.74%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 月以面額發行，一個月跌約 10 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Moody's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Ba3（穩定）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無擔保債 B1；流動性 SGL-3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S&amp;P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B+（正向）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展望 2026/4/9 調為正向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Fitch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BB-（正向）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2026/7/16 確認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資料來源：Bloomberg（YAS、RATC）、TRACE；資料日期：2026/10/16。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債務結構與發債量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專案層與公司層兩層架構；2025–2026 年發行明細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加權平均票息 5.33%，加權平均到期 2031/8（4.8 年）</a:t>
            </a:r>
          </a:p>
          <a:p>
            <a:pPr/>
            <a:r>
              <a:t>最貴的一筆：DDTL 1.0 約 13.7%，2028/3 到期</a:t>
            </a:r>
          </a:p>
          <a:p>
            <a:pPr/>
            <a:r>
              <a:t>10-Q 帳面本金 356 億（6/30），差額來自 9 月可轉債與貸款提領</a:t>
            </a:r>
          </a:p>
          <a:p>
            <a:pPr/>
            <a:r>
              <a:t>共識 2026E 總債務 472 億、含租賃 639 億美元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債務組成（億美元）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總債務 441 億美元，近半為無擔保債與可轉債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28" y="1592263"/>
          <a:ext cx="561774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481"/>
                <a:gridCol w="856944"/>
                <a:gridCol w="761728"/>
                <a:gridCol w="1142592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類別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檔數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擔保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擔保貸款（DDTL、循環額度）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233.3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第一順位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99.9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441.1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未動用貸款額度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資料來源：Bloomberg（DDIS、BEst 共識）、CoreWeave 10-Q；資料日期：2026/10/16。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2030–2032 年到期占總債務 67%</a:t>
            </a:r>
          </a:p>
          <a:p>
            <a:pPr/>
            <a:r>
              <a:t>2026–27 年只有合約攤還：10-Q 列 44 億、62 億美元</a:t>
            </a:r>
          </a:p>
          <a:p>
            <a:pPr/>
            <a:r>
              <a:t>第一筆無擔保債 2030/6 到期（20 億美元，9.25%）</a:t>
            </a:r>
          </a:p>
          <a:p>
            <a:pPr/>
            <a:r>
              <a:t>75 億美元貸款在 Bloomberg 未揭露到期日，餘額可能未反映攤還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到期分布（億美元）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到期集中在 2030–2032 年，三年合計 297 億美元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資料來源：Bloomberg（DDIS，依到期日、僅本金）、CoreWeave 10-Q；資料日期：2026/10/16。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DDTL 占 2026 年發行約一半，用於已簽約客戶的 GPU</a:t>
            </a:r>
          </a:p>
          <a:p>
            <a:pPr/>
            <a:r>
              <a:t>可轉債 2026 年增至 82 億美元，三檔超額配售均已行使</a:t>
            </a:r>
          </a:p>
          <a:p>
            <a:pPr/>
            <a:r>
              <a:t>另有約 10 億美元私募增資，以及最多 3,500 萬股 ATM</a:t>
            </a:r>
          </a:p>
          <a:p>
            <a:pPr/>
            <a:r>
              <a:t>共識 2026E 全年發債（毛額）約 327 億美元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新增債務（億美元；DDTL 以額度計）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年新增債務約 286 億美元，為 2025 年的 2.4 倍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公司公告、Bloomberg（DDIS、BEst）；本報告彙整；資料日期：2026/9/30。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年：首次發行無擔保債，票息 9% 以上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876"/>
                <a:gridCol w="1476955"/>
                <a:gridCol w="2215433"/>
                <a:gridCol w="1723115"/>
                <a:gridCol w="1353876"/>
                <a:gridCol w="3200070"/>
              </a:tblGrid>
              <a:tr h="4318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利率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到期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9.25%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2030/6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首次發債，由 15 億上調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17.5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9.00%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2031/2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10/14 跌至 79.9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DDTL 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26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SOFR+400bp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2030/8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OpenAI 合約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DDTL 2.1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最高 30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SOFR+425bp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2026/7 起季度攤還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25.9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2031/12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含超額配售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公司公告、Bloomberg（DDIS）；資料日期：2025/12/31。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年：DDTL 與可轉債為主力，DDTL 利差逐筆擴大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352"/>
                <a:gridCol w="1758963"/>
                <a:gridCol w="2088769"/>
                <a:gridCol w="1539093"/>
                <a:gridCol w="1209287"/>
                <a:gridCol w="3627862"/>
              </a:tblGrid>
              <a:tr h="3556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利率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到期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SOFR+225bp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A3，投資級；已提領 29 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40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1.75%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2032/10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含超額配售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27.5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含 10 億增發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5.0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31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SOFR+450bp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2031/11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Ba2／BB+；已提領 11 億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12.5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9.625%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歐元無擔保債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 億歐元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8.50%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約 22.3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26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SOFR+550bp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合約僅約 3 年；已提領 12 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42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2.875%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2033/4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含超額配售；轉換價 97.85 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ATM 增資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最多 3,500 萬股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動用量未揭露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公司公告、Bloomberg（DDIS）、Moody's、Fitch；資料日期：2026/10/16。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營業利益／利息：0.54 倍 → 0.35 倍 → 0.78 倍</a:t>
            </a:r>
          </a:p>
          <a:p>
            <a:pPr/>
            <a:r>
              <a:t>EBITDA／利息約 2.5–3.2 倍，靠折舊加回才撐得住</a:t>
            </a:r>
          </a:p>
          <a:p>
            <a:pPr/>
            <a:r>
              <a:t>Q3 利息指引 8.6–9.4 億美元，季增約 40%</a:t>
            </a:r>
          </a:p>
          <a:p>
            <a:pPr/>
            <a:r>
              <a:t>共識 2026E 淨損 27 億、2027E 淨損 22 億美元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調整後營業利益 vs. 利息費用（億美元）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營業利益不足以支付利息，2027E 利息達 53 億美元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資料來源：Bloomberg（BEst 共識）、CoreWeave Q2 2026 指引；資料日期：2026/10/16。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槓桿 2026E 總債務／EBITDA 6.2 倍，含租賃 8.4 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4603"/>
                <a:gridCol w="1852908"/>
                <a:gridCol w="1852908"/>
                <a:gridCol w="1852908"/>
              </a:tblGrid>
              <a:tr h="3556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2025A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2026E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2027E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營收（億美元）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129.0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265.9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調整後 EBITDA（億美元）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30.9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75.8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167.7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調整後營業利益（億美元）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利息費用（億美元）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12.3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30.4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52.7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EBITDA／利息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2.5x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2.5x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營業利益／利息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0.54x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0.35x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0.78x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總債務／EBITDA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7.0x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6.2x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4.3x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債務＋租賃／EBITDA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9.6x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8.4x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5.6x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資料來源：Bloomberg（BEst 共識）；倍數為本報告計算；資料日期：2026/10/16。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融資需求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市場共識：2026–2027 年資金缺口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2026E 資本支出 357 億（公司口徑 385 億，指引 350–390 億）</a:t>
            </a:r>
          </a:p>
          <a:p>
            <a:pPr/>
            <a:r>
              <a:t>2027E 資本支出 483 億（公司口徑 520 億），再增約 35%</a:t>
            </a:r>
          </a:p>
          <a:p>
            <a:pPr/>
            <a:r>
              <a:t>營運現金流含大量客戶預付款：遞延收入 2026E 增 50 億、2027E 增 74 億</a:t>
            </a:r>
          </a:p>
          <a:p>
            <a:pPr/>
            <a:r>
              <a:t>營收翻倍也追不上資本支出，2027 年仍大幅燒錢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現金流（億美元）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共識：2026–27 年自由現金流合計約 −580 億美元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資料來源：Bloomberg（BEst 共識）；資料日期：2026/10/16。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共識預期每年發債逾 330 億美元，總債務 2027E 達 721 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572"/>
                <a:gridCol w="1998234"/>
                <a:gridCol w="2220260"/>
                <a:gridCol w="2220260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項目（億美元）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2025A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2026E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2027E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自由現金流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−72.5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−272.0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−306.1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發債（毛額）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118.3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327.0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338.0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淨借款（扣除還款）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84.3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258.5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281.4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股權融資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29.8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22.9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期末總債務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216.2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472.4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721.2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期末債務＋租賃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298.2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638.9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937.1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期末現金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資料來源：Bloomberg（BEst 共識）；資料日期：2026/10/16。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下半年資金大致足夠，緩衝約 20 億美元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598"/>
                <a:gridCol w="1509777"/>
                <a:gridCol w="5586175"/>
                <a:gridCol w="1509777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資金用途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億美元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資金來源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億美元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下半年資本支出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6/30 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下半年到期本金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6/30 未動用額度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101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7–9 月新融資（DDTL 5.5 + 可轉債）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下半年營運現金流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53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資料來源：本報告估算：共識全年資本支出 385 億、營運現金流 89 億減上半年實際；未動用額度多綁定特定合約；資料日期：2026/10/16。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專案層管道仍開放，公司層無擔保債已近乎關閉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740"/>
                <a:gridCol w="3816852"/>
                <a:gridCol w="5979735"/>
              </a:tblGrid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專案層（DDTL）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公司層（無擔保債／可轉債／股權）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已簽約客戶的 GPU 與設備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股本份額、資料中心、營運資金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擔保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GPU 與客戶合約（第一順位）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目前成本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SOFR+225～+550bp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無擔保債殖利率約 15%；可轉債 4.7–6.4%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市場狀況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 月 DDTL 5.5 超額認購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新無擔保債幾乎不可行；9 月可轉債已跌至 89.7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合約年期縮短（約 3 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依賴可轉債與 ATM，股東稀釋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資料來源：Bloomberg（YAS）、CoreWeave 公司公告、TRACE；資料日期：2026/10/16。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其他風險與後續觀察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客戶集中、執行風險與支撐因素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2026 年底目標上線 1.7GW；共識 2026E 1.8GW、2027E 3.1GW</a:t>
            </a:r>
          </a:p>
          <a:p>
            <a:pPr/>
            <a:r>
              <a:t>全年營收指引隱含下半年 76–80 億美元，比上半年多約 65%</a:t>
            </a:r>
          </a:p>
          <a:p>
            <a:pPr/>
            <a:r>
              <a:t>DDTL 5.5 貸款約 5 年、合約約 3 年</a:t>
            </a:r>
          </a:p>
          <a:p>
            <a:pPr/>
            <a:r>
              <a:t>Nebius 10/14 跌破 200 美元，Oracle 同步走弱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執行、擔保品與傳染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/>
            <a:r>
              <a:t>2025 全年：Microsoft 約占營收 67%</a:t>
            </a:r>
          </a:p>
          <a:p>
            <a:pPr/>
            <a:r>
              <a:t>2026 Q1：前兩大客戶合計約 65%</a:t>
            </a:r>
          </a:p>
          <a:p>
            <a:pPr/>
            <a:r>
              <a:t>新合約：Meta 約 210 億美元、OpenAI、Anthropic、Google</a:t>
            </a:r>
          </a:p>
          <a:p>
            <a:pPr/>
            <a:r>
              <a:t>曝險由 Microsoft 移向 OpenAI（非投資等級、仍在燒錢）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客戶集中與交易對手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客戶曝險移向 OpenAI 與 Meta，營收集中於下半年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10-K、10-Q、Q2 財報、Bloomberg（BEst）、TheStreet；資料日期：2026/10/16。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Backlog 需先投入資本支出才能轉為營收</a:t>
            </a:r>
          </a:p>
          <a:p>
            <a:pPr/>
            <a:r>
              <a:t>交付前現金流為負，仍須依賴融資</a:t>
            </a:r>
          </a:p>
          <a:p>
            <a:pPr/>
            <a:r>
              <a:t>Bernstein 維持表現落後大盤，稱商業模式「經濟上有挑戰」</a:t>
            </a:r>
          </a:p>
          <a:p>
            <a:pPr/>
            <a:r>
              <a:t>評等與市場價格落差大，展望下修風險上升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保留意見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>
            <a:pPr/>
            <a:r>
              <a:t>Backlog 1,042 億美元（6/30），年增約 246%</a:t>
            </a:r>
          </a:p>
          <a:p>
            <a:pPr lvl="1"/>
            <a:r>
              <a:t>共識 2026E 年底 backlog 約 1,265 億美元</a:t>
            </a:r>
          </a:p>
          <a:p>
            <a:pPr/>
            <a:r>
              <a:t>Nvidia 持股約 20 億美元，承諾 2032 年前最多回購 63 億美元閒置產能</a:t>
            </a:r>
          </a:p>
          <a:p>
            <a:pPr/>
            <a:r>
              <a:t>Deutsche Bank 維持買進，目標價 150 美元</a:t>
            </a:r>
          </a:p>
          <a:p>
            <a:pPr/>
            <a:r>
              <a:t>S&amp;P、Fitch 評等展望仍為正向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支撐因素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與 Nvidia 提供支撐，但無法取代融資管道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資料來源：Bloomberg（BEst、RATC）、Benzinga、CoreWeave Q2 財報；資料日期：2026/10/16。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後續觀察：雲端業者資本支出、融資條件與 Q3 財報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0737"/>
                <a:gridCol w="5032590"/>
              </a:tblGrid>
              <a:tr h="431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觀察項目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為什麼重要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10 月下旬 Microsoft、Meta、Google、Amazon 財報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資本支出指引是否維持或上調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5Y CDS 走勢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能否回落至 1,000bp 以下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ATM 實際動用量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公司層資金是否已開始依賴增資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下一筆 DDTL 的利率與條款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專案層管道是否也開始收緊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是否再發無擔保債或改用有擔保結構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公司層市場是否重新打開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Q3 財報（預計 11/9–11/16，未確認）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現金餘額、Q4 資本支出、2027 初步指引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S&amp;P、Fitch 正向展望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市場已定價困境，展望下修機率上升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資料來源：公司指引、Bloomberg；本報告整理；資料日期：2026/10/16。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bc59d3-45e3-4ebf-ab19-686277327d0a">
      <Terms xmlns="http://schemas.microsoft.com/office/infopath/2007/PartnerControls"/>
    </lcf76f155ced4ddcb4097134ff3c332f>
    <TaxCatchAll xmlns="b16bef46-1eec-4b5f-ad0d-963b9aa61a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B5AF206868D8874A843B10EEED0C3539" ma:contentTypeVersion="12" ma:contentTypeDescription="建立新的文件。" ma:contentTypeScope="" ma:versionID="10f3a2e85540134f41ea3f153298aa01">
  <xsd:schema xmlns:xsd="http://www.w3.org/2001/XMLSchema" xmlns:xs="http://www.w3.org/2001/XMLSchema" xmlns:p="http://schemas.microsoft.com/office/2006/metadata/properties" xmlns:ns2="4bbc59d3-45e3-4ebf-ab19-686277327d0a" xmlns:ns3="b16bef46-1eec-4b5f-ad0d-963b9aa61a0b" targetNamespace="http://schemas.microsoft.com/office/2006/metadata/properties" ma:root="true" ma:fieldsID="adc88520e3faaa04d49c78356d579868" ns2:_="" ns3:_="">
    <xsd:import namespace="4bbc59d3-45e3-4ebf-ab19-686277327d0a"/>
    <xsd:import namespace="b16bef46-1eec-4b5f-ad0d-963b9aa61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c59d3-45e3-4ebf-ab19-686277327d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影像標籤" ma:readOnly="false" ma:fieldId="{5cf76f15-5ced-4ddc-b409-7134ff3c332f}" ma:taxonomyMulti="true" ma:sspId="d4ac73bf-4f50-40c3-83c9-ed5c9e1f35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bef46-1eec-4b5f-ad0d-963b9aa61a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723ea26-017c-4025-845e-9bb91ee23d61}" ma:internalName="TaxCatchAll" ma:showField="CatchAllData" ma:web="b16bef46-1eec-4b5f-ad0d-963b9aa61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27931-9195-4DD8-BCF1-F6FDE9E763C2}">
  <ds:schemaRefs>
    <ds:schemaRef ds:uri="http://schemas.microsoft.com/office/2006/metadata/properties"/>
    <ds:schemaRef ds:uri="http://schemas.microsoft.com/office/infopath/2007/PartnerControls"/>
    <ds:schemaRef ds:uri="4bbc59d3-45e3-4ebf-ab19-686277327d0a"/>
    <ds:schemaRef ds:uri="b16bef46-1eec-4b5f-ad0d-963b9aa61a0b"/>
  </ds:schemaRefs>
</ds:datastoreItem>
</file>

<file path=customXml/itemProps2.xml><?xml version="1.0" encoding="utf-8"?>
<ds:datastoreItem xmlns:ds="http://schemas.openxmlformats.org/officeDocument/2006/customXml" ds:itemID="{31625F82-C534-43BE-99C3-57027BEC9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bc59d3-45e3-4ebf-ab19-686277327d0a"/>
    <ds:schemaRef ds:uri="b16bef46-1eec-4b5f-ad0d-963b9aa61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555B60-B245-449C-81A3-05918641C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1</TotalTime>
  <Words>16</Words>
  <Application>Microsoft Office PowerPoint</Application>
  <PresentationFormat>寬螢幕</PresentationFormat>
  <Paragraphs>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Wingdings</vt:lpstr>
      <vt:lpstr>佈景主題3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林威宇WeiYuLin-HR-KGISEC</cp:lastModifiedBy>
  <cp:revision>3</cp:revision>
  <dcterms:created xsi:type="dcterms:W3CDTF">2025-04-01T01:37:12Z</dcterms:created>
  <dcterms:modified xsi:type="dcterms:W3CDTF">2026-10-12T02:47:09Z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0x010100B5AF206868D8874A843B10EEED0C3539</vt:lpwstr>
  </property>
</Properties>
</file>