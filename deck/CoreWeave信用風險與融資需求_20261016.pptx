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9"/>
    <p:sldId id="257" r:id="rId10"/>
    <p:sldId id="258" r:id="rId8"/>
    <p:sldId id="259" r:id="rId7"/>
    <p:sldId id="260" r:id="rId6"/>
    <p:sldId id="261" r:id="rId5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5Y CDS</c:v>
                </c:pt>
              </c:strCache>
            </c:strRef>
          </c:tx>
          <c:spPr>
            <a:solidFill>
              <a:srgbClr val="0065B2"/>
            </a:solidFill>
          </c:spPr>
          <c:cat>
            <c:strRef>
              <c:f>Sheet1!$A$2:$A$4</c:f>
              <c:strCache>
                <c:ptCount val="3"/>
                <c:pt idx="0">
                  <c:v>10/6</c:v>
                </c:pt>
                <c:pt idx="1">
                  <c:v>10/9</c:v>
                </c:pt>
                <c:pt idx="2">
                  <c:v>10/15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368</c:v>
                </c:pt>
                <c:pt idx="1">
                  <c:v>643</c:v>
                </c:pt>
                <c:pt idx="2">
                  <c:v>1194.5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title>
          <c:tx>
            <c:rich>
              <a:bodyPr/>
              <a:lstStyle/>
              <a:p>
                <a:r>
                  <a:t>bp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到期本金</c:v>
                </c:pt>
              </c:strCache>
            </c:strRef>
          </c:tx>
          <c:spPr>
            <a:solidFill>
              <a:srgbClr val="0065B2"/>
            </a:solidFill>
          </c:spPr>
          <c:cat>
            <c:strRef>
              <c:f>Sheet1!$A$2:$A$6</c:f>
              <c:strCache>
                <c:ptCount val="5"/>
                <c:pt idx="0">
                  <c:v>2026 下半年</c:v>
                </c:pt>
                <c:pt idx="1">
                  <c:v>2027</c:v>
                </c:pt>
                <c:pt idx="2">
                  <c:v>2028–29</c:v>
                </c:pt>
                <c:pt idx="3">
                  <c:v>2030</c:v>
                </c:pt>
                <c:pt idx="4">
                  <c:v>2031 以後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44</c:v>
                </c:pt>
                <c:pt idx="1">
                  <c:v>62</c:v>
                </c:pt>
                <c:pt idx="2">
                  <c:v>69</c:v>
                </c:pt>
                <c:pt idx="3">
                  <c:v>32</c:v>
                </c:pt>
                <c:pt idx="4">
                  <c:v>149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0" sourceLinked="0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DDTL</c:v>
                </c:pt>
              </c:strCache>
            </c:strRef>
          </c:tx>
          <c:spPr>
            <a:solidFill>
              <a:srgbClr val="0065B2"/>
            </a:solidFill>
          </c:spPr>
          <c:cat>
            <c:strRef>
              <c:f>Sheet1!$A$2:$A$3</c:f>
              <c:strCache>
                <c:ptCount val="2"/>
                <c:pt idx="0">
                  <c:v>2025</c:v>
                </c:pt>
                <c:pt idx="1">
                  <c:v>2026（截至 9 月）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56</c:v>
                </c:pt>
                <c:pt idx="1">
                  <c:v>142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可轉債</c:v>
                </c:pt>
              </c:strCache>
            </c:strRef>
          </c:tx>
          <c:spPr>
            <a:solidFill>
              <a:srgbClr val="E83F0A"/>
            </a:solidFill>
          </c:spPr>
          <c:cat>
            <c:strRef>
              <c:f>Sheet1!$A$2:$A$3</c:f>
              <c:strCache>
                <c:ptCount val="2"/>
                <c:pt idx="0">
                  <c:v>2025</c:v>
                </c:pt>
                <c:pt idx="1">
                  <c:v>2026（截至 9 月）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22.5</c:v>
                </c:pt>
                <c:pt idx="1">
                  <c:v>72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無擔保債</c:v>
                </c:pt>
              </c:strCache>
            </c:strRef>
          </c:tx>
          <c:spPr>
            <a:solidFill>
              <a:srgbClr val="4DB848"/>
            </a:solidFill>
          </c:spPr>
          <c:cat>
            <c:strRef>
              <c:f>Sheet1!$A$2:$A$3</c:f>
              <c:strCache>
                <c:ptCount val="2"/>
                <c:pt idx="0">
                  <c:v>2025</c:v>
                </c:pt>
                <c:pt idx="1">
                  <c:v>2026（截至 9 月）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37.5</c:v>
                </c:pt>
                <c:pt idx="1">
                  <c:v>63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利息費用</c:v>
                </c:pt>
              </c:strCache>
            </c:strRef>
          </c:tx>
          <c:spPr>
            <a:solidFill>
              <a:srgbClr val="0065B2"/>
            </a:solidFill>
          </c:spPr>
          <c:cat>
            <c:strRef>
              <c:f>Sheet1!$A$2:$A$3</c:f>
              <c:strCache>
                <c:ptCount val="2"/>
                <c:pt idx="0">
                  <c:v>Q2 實際</c:v>
                </c:pt>
                <c:pt idx="1">
                  <c:v>Q3 指引中值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640</c:v>
                </c:pt>
                <c:pt idx="1">
                  <c:v>900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(一般內外部使用)封面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60A8F5F-83B1-BC42-302A-BEBBDE3575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91195" y="3722655"/>
            <a:ext cx="8618046" cy="792089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8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 dirty="0"/>
              <a:t>Enter your subtitle here</a:t>
            </a:r>
            <a:r>
              <a:rPr lang="en-US" altLang="zh-TW" dirty="0"/>
              <a:t>/</a:t>
            </a:r>
            <a:r>
              <a:rPr lang="zh-TW" altLang="en-US" dirty="0"/>
              <a:t>副標題</a:t>
            </a:r>
            <a:endParaRPr lang="en-GB" dirty="0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5E29903C-3A77-04D4-EB8D-620930D430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1195" y="1809825"/>
            <a:ext cx="8618046" cy="183600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 dirty="0"/>
              <a:t>Enter your title here</a:t>
            </a:r>
            <a:r>
              <a:rPr lang="en-US" altLang="zh-TW" dirty="0"/>
              <a:t>/</a:t>
            </a:r>
            <a:r>
              <a:rPr lang="zh-TW" altLang="en-US" dirty="0"/>
              <a:t>標題</a:t>
            </a:r>
            <a:endParaRPr lang="en-GB" dirty="0"/>
          </a:p>
        </p:txBody>
      </p:sp>
      <p:sp>
        <p:nvSpPr>
          <p:cNvPr id="13" name="Text Placeholder 31">
            <a:extLst>
              <a:ext uri="{FF2B5EF4-FFF2-40B4-BE49-F238E27FC236}">
                <a16:creationId xmlns:a16="http://schemas.microsoft.com/office/drawing/2014/main" id="{16339BFE-A765-8F29-853A-156DD08A01A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1084" y="5643096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 dirty="0"/>
              <a:t>yyyy.mm.dd</a:t>
            </a:r>
            <a:endParaRPr lang="en-GB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83798FD-4237-3530-57E2-BF152C1FB444}"/>
              </a:ext>
            </a:extLst>
          </p:cNvPr>
          <p:cNvSpPr/>
          <p:nvPr/>
        </p:nvSpPr>
        <p:spPr bwMode="auto">
          <a:xfrm>
            <a:off x="1616149" y="1360967"/>
            <a:ext cx="8952614" cy="4890977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200" b="1" i="0" u="none" strike="noStrike" cap="none" normalizeH="0" baseline="0" dirty="0" err="1">
              <a:ln>
                <a:noFill/>
              </a:ln>
              <a:solidFill>
                <a:schemeClr val="accent1"/>
              </a:solidFill>
              <a:effectLst/>
              <a:latin typeface="Arial" charset="0"/>
            </a:endParaRPr>
          </a:p>
        </p:txBody>
      </p:sp>
      <p:sp>
        <p:nvSpPr>
          <p:cNvPr id="15" name="Text Placeholder 31">
            <a:extLst>
              <a:ext uri="{FF2B5EF4-FFF2-40B4-BE49-F238E27FC236}">
                <a16:creationId xmlns:a16="http://schemas.microsoft.com/office/drawing/2014/main" id="{58110868-E592-43CE-C4AB-DD61449BC2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1194" y="4586751"/>
            <a:ext cx="8618046" cy="972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Business Division</a:t>
            </a:r>
            <a:r>
              <a:rPr lang="zh-TW" altLang="en-US" dirty="0"/>
              <a:t> </a:t>
            </a:r>
            <a:r>
              <a:rPr lang="en-US" dirty="0"/>
              <a:t>/</a:t>
            </a:r>
            <a:r>
              <a:rPr lang="zh-TW" altLang="en-US" dirty="0"/>
              <a:t> </a:t>
            </a:r>
            <a:r>
              <a:rPr lang="en-US" dirty="0"/>
              <a:t>Department</a:t>
            </a:r>
          </a:p>
          <a:p>
            <a:pPr lvl="0"/>
            <a:r>
              <a:rPr lang="en-US" dirty="0"/>
              <a:t>Name / Presenter</a:t>
            </a:r>
            <a:br>
              <a:rPr lang="en-US" dirty="0"/>
            </a:br>
            <a:r>
              <a:rPr lang="en-US" dirty="0"/>
              <a:t>Company Name</a:t>
            </a:r>
            <a:endParaRPr lang="en-GB" dirty="0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7986CD2-F276-6498-491B-323EEFD6B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679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對外使用）封面_高階主管/公司介紹使用_藍色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 descr="一張含有 戶外, 高層建築物, 天空, 大都會區 的圖片&#10;&#10;AI 產生的內容可能不正確。">
            <a:extLst>
              <a:ext uri="{FF2B5EF4-FFF2-40B4-BE49-F238E27FC236}">
                <a16:creationId xmlns:a16="http://schemas.microsoft.com/office/drawing/2014/main" id="{DF5989F6-64B7-FE34-C5CF-1D81725B96C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14959" r="15051" b="19693"/>
          <a:stretch/>
        </p:blipFill>
        <p:spPr>
          <a:xfrm>
            <a:off x="-1" y="0"/>
            <a:ext cx="12192000" cy="3169920"/>
          </a:xfrm>
          <a:prstGeom prst="rect">
            <a:avLst/>
          </a:prstGeom>
        </p:spPr>
      </p:pic>
      <p:sp>
        <p:nvSpPr>
          <p:cNvPr id="3" name="Text Placeholder 31">
            <a:extLst>
              <a:ext uri="{FF2B5EF4-FFF2-40B4-BE49-F238E27FC236}">
                <a16:creationId xmlns:a16="http://schemas.microsoft.com/office/drawing/2014/main" id="{3B1259DF-3F56-1023-6F8B-5567F7CE39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16000" y="4971319"/>
            <a:ext cx="9360000" cy="668217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Business Division</a:t>
            </a:r>
            <a:r>
              <a:rPr lang="zh-TW" altLang="en-US" dirty="0"/>
              <a:t> </a:t>
            </a:r>
            <a:r>
              <a:rPr lang="en-US" dirty="0"/>
              <a:t>/</a:t>
            </a:r>
            <a:r>
              <a:rPr lang="zh-TW" altLang="en-US" dirty="0"/>
              <a:t> </a:t>
            </a:r>
            <a:r>
              <a:rPr lang="en-US" dirty="0"/>
              <a:t>Department</a:t>
            </a:r>
            <a:br>
              <a:rPr lang="en-US" dirty="0"/>
            </a:br>
            <a:r>
              <a:rPr lang="en-US" altLang="zh-TW" dirty="0"/>
              <a:t>Company Name</a:t>
            </a:r>
            <a:endParaRPr lang="en-GB" dirty="0"/>
          </a:p>
        </p:txBody>
      </p:sp>
      <p:sp>
        <p:nvSpPr>
          <p:cNvPr id="4" name="Title 15">
            <a:extLst>
              <a:ext uri="{FF2B5EF4-FFF2-40B4-BE49-F238E27FC236}">
                <a16:creationId xmlns:a16="http://schemas.microsoft.com/office/drawing/2014/main" id="{F9C7FD12-AEFC-2930-499D-9C95070DA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6001" y="3489523"/>
            <a:ext cx="9360000" cy="1440971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 dirty="0"/>
              <a:t>Enter your title here</a:t>
            </a:r>
            <a:r>
              <a:rPr lang="en-US" altLang="zh-TW" dirty="0"/>
              <a:t>/</a:t>
            </a:r>
            <a:r>
              <a:rPr lang="zh-TW" altLang="en-US" dirty="0"/>
              <a:t>標題</a:t>
            </a:r>
            <a:endParaRPr lang="en-GB" dirty="0"/>
          </a:p>
        </p:txBody>
      </p:sp>
      <p:sp>
        <p:nvSpPr>
          <p:cNvPr id="7" name="Text Placeholder 31">
            <a:extLst>
              <a:ext uri="{FF2B5EF4-FFF2-40B4-BE49-F238E27FC236}">
                <a16:creationId xmlns:a16="http://schemas.microsoft.com/office/drawing/2014/main" id="{2B94C9C1-7667-DE81-6681-05C779E47D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46867" y="5680361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 dirty="0"/>
              <a:t>yyyy.mm.dd</a:t>
            </a:r>
            <a:endParaRPr lang="en-GB" dirty="0"/>
          </a:p>
        </p:txBody>
      </p:sp>
      <p:pic>
        <p:nvPicPr>
          <p:cNvPr id="6" name="圖片 5" descr="一張含有 螢幕擷取畫面 的圖片&#10;&#10;AI 產生的內容可能不正確。">
            <a:extLst>
              <a:ext uri="{FF2B5EF4-FFF2-40B4-BE49-F238E27FC236}">
                <a16:creationId xmlns:a16="http://schemas.microsoft.com/office/drawing/2014/main" id="{2076D68A-CB22-5CD8-834C-1C410D477B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93499"/>
          <a:stretch/>
        </p:blipFill>
        <p:spPr>
          <a:xfrm>
            <a:off x="0" y="0"/>
            <a:ext cx="12192000" cy="446646"/>
          </a:xfrm>
          <a:prstGeom prst="rect">
            <a:avLst/>
          </a:prstGeom>
        </p:spPr>
      </p:pic>
      <p:pic>
        <p:nvPicPr>
          <p:cNvPr id="5" name="圖片 4" descr="一張含有 文字, 字型, 標誌, 圖形 的圖片&#10;&#10;AI 產生的內容可能不正確。">
            <a:extLst>
              <a:ext uri="{FF2B5EF4-FFF2-40B4-BE49-F238E27FC236}">
                <a16:creationId xmlns:a16="http://schemas.microsoft.com/office/drawing/2014/main" id="{28F8E197-46D8-FD2A-0828-AB646691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6" y="366462"/>
            <a:ext cx="3919927" cy="90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660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目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8C1BCC7A-9476-882C-ED32-34B76EEDC21A}"/>
              </a:ext>
            </a:extLst>
          </p:cNvPr>
          <p:cNvCxnSpPr/>
          <p:nvPr/>
        </p:nvCxnSpPr>
        <p:spPr>
          <a:xfrm>
            <a:off x="2245360" y="772160"/>
            <a:ext cx="0" cy="482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70787CD-36F0-3EFD-89D4-CDAB8A2B002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3170" y="792480"/>
            <a:ext cx="8618046" cy="4826000"/>
          </a:xfrm>
          <a:prstGeom prst="rect">
            <a:avLst/>
          </a:prstGeom>
        </p:spPr>
        <p:txBody>
          <a:bodyPr lIns="0" tIns="72000" rIns="0" bIns="0" anchor="t" anchorCtr="0"/>
          <a:lstStyle>
            <a:lvl1pPr marL="514350" indent="-51435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 sz="2400" b="1" baseline="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 dirty="0"/>
              <a:t>章節標題</a:t>
            </a:r>
            <a:endParaRPr lang="en-US" altLang="zh-TW" dirty="0"/>
          </a:p>
          <a:p>
            <a:pPr lvl="0"/>
            <a:r>
              <a:rPr lang="zh-TW" altLang="en-US" dirty="0"/>
              <a:t>章節標題</a:t>
            </a:r>
            <a:endParaRPr lang="en-US" altLang="zh-TW" dirty="0"/>
          </a:p>
          <a:p>
            <a:pPr lvl="0"/>
            <a:r>
              <a:rPr lang="zh-TW" altLang="en-US" dirty="0"/>
              <a:t>章節標題</a:t>
            </a:r>
            <a:endParaRPr lang="en-US" altLang="zh-TW" dirty="0"/>
          </a:p>
          <a:p>
            <a:pPr lvl="0"/>
            <a:r>
              <a:rPr lang="zh-TW" altLang="en-US" dirty="0"/>
              <a:t>章節標題</a:t>
            </a:r>
            <a:endParaRPr lang="en-US" altLang="zh-TW" dirty="0"/>
          </a:p>
          <a:p>
            <a:pPr lvl="0"/>
            <a:r>
              <a:rPr lang="zh-TW" altLang="en-US" dirty="0"/>
              <a:t>章節標題</a:t>
            </a:r>
            <a:endParaRPr lang="en-US" altLang="zh-TW" dirty="0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 dirty="0"/>
              <a:t>章節標題</a:t>
            </a:r>
            <a:endParaRPr lang="en-US" altLang="zh-TW" dirty="0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 dirty="0"/>
              <a:t>章節標題</a:t>
            </a:r>
            <a:endParaRPr lang="en-US" altLang="zh-TW" dirty="0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 dirty="0"/>
              <a:t>章節標題</a:t>
            </a:r>
            <a:endParaRPr lang="en-US" altLang="zh-TW" dirty="0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 dirty="0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GB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87517D7-B634-BF20-FD9D-FBBA8FDB4C9D}"/>
              </a:ext>
            </a:extLst>
          </p:cNvPr>
          <p:cNvSpPr txBox="1"/>
          <p:nvPr/>
        </p:nvSpPr>
        <p:spPr>
          <a:xfrm>
            <a:off x="610784" y="2600385"/>
            <a:ext cx="124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b="1" kern="1200" baseline="0" dirty="0">
                <a:solidFill>
                  <a:schemeClr val="tx2"/>
                </a:solidFill>
                <a:latin typeface="+mj-lt"/>
                <a:ea typeface="+mj-ea"/>
                <a:cs typeface="+mn-cs"/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249752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過場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6D791A4D-5205-4352-88AE-97FD7C1F3A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89997" y="2313647"/>
            <a:ext cx="886153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 dirty="0"/>
              <a:t>Enter your section here</a:t>
            </a:r>
            <a:r>
              <a:rPr lang="en-US" altLang="zh-TW" dirty="0"/>
              <a:t>/</a:t>
            </a:r>
            <a:r>
              <a:rPr lang="zh-TW" altLang="en-US" dirty="0"/>
              <a:t>過場頁</a:t>
            </a:r>
            <a:endParaRPr lang="en-GB" dirty="0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AF2F9EF8-0189-40EB-A178-BB8B489D7B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89997" y="3751989"/>
            <a:ext cx="8861538" cy="5076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 dirty="0"/>
              <a:t>Enter your subsection here</a:t>
            </a:r>
            <a:endParaRPr lang="en-GB" dirty="0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D7F589AA-59B8-1AA5-5269-AE950DF4C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7689" y="5236250"/>
            <a:ext cx="205617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4000" b="1" baseline="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GB" dirty="0"/>
              <a:t>01</a:t>
            </a:r>
            <a:r>
              <a:rPr lang="en-US" altLang="zh-TW" dirty="0"/>
              <a:t>/</a:t>
            </a:r>
            <a:r>
              <a:rPr lang="zh-TW" altLang="en-US" dirty="0"/>
              <a:t>章節</a:t>
            </a:r>
            <a:endParaRPr lang="en-GB" dirty="0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70425691-2F5D-1B38-622A-C698AAA94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168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感謝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1B2AC565-B4AC-412F-B16F-DC5E237291CB}"/>
              </a:ext>
            </a:extLst>
          </p:cNvPr>
          <p:cNvSpPr txBox="1"/>
          <p:nvPr/>
        </p:nvSpPr>
        <p:spPr>
          <a:xfrm>
            <a:off x="3911600" y="2875002"/>
            <a:ext cx="436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6600" b="1" dirty="0">
                <a:solidFill>
                  <a:schemeClr val="tx2"/>
                </a:solidFill>
              </a:rPr>
              <a:t>THANK YOU</a:t>
            </a:r>
            <a:endParaRPr kumimoji="1" lang="zh-TW" altLang="en-US" sz="6600" b="1" dirty="0">
              <a:solidFill>
                <a:schemeClr val="tx2"/>
              </a:solidFill>
            </a:endParaRPr>
          </a:p>
        </p:txBody>
      </p:sp>
      <p:pic>
        <p:nvPicPr>
          <p:cNvPr id="4" name="圖片 3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3BF6A9C3-3AD0-FB3E-14AA-5427C2BF0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12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1203650"/>
            <a:ext cx="11323328" cy="51411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 dirty="0"/>
              <a:t>Click to add text</a:t>
            </a:r>
          </a:p>
          <a:p>
            <a:pPr lvl="1"/>
            <a:r>
              <a:rPr lang="en-GB" altLang="zh-TW" dirty="0"/>
              <a:t>Level 1</a:t>
            </a:r>
          </a:p>
          <a:p>
            <a:pPr lvl="2"/>
            <a:r>
              <a:rPr lang="en-GB" altLang="zh-TW" dirty="0"/>
              <a:t>Level 2</a:t>
            </a:r>
          </a:p>
          <a:p>
            <a:pPr lvl="3"/>
            <a:r>
              <a:rPr lang="en-GB" altLang="zh-TW" dirty="0"/>
              <a:t>Level 3</a:t>
            </a:r>
          </a:p>
          <a:p>
            <a:pPr lvl="4"/>
            <a:r>
              <a:rPr lang="en-GB" altLang="zh-TW" dirty="0"/>
              <a:t>Level 4</a:t>
            </a:r>
          </a:p>
        </p:txBody>
      </p:sp>
      <p:sp>
        <p:nvSpPr>
          <p:cNvPr id="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229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75">
          <p15:clr>
            <a:srgbClr val="FBAE40"/>
          </p15:clr>
        </p15:guide>
        <p15:guide id="3" orient="horz" pos="75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7970D2F-BD06-470D-9E52-3C26FE963FA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28775"/>
            <a:ext cx="11323328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 dirty="0"/>
              <a:t>Click to add text</a:t>
            </a:r>
          </a:p>
          <a:p>
            <a:pPr lvl="1"/>
            <a:r>
              <a:rPr lang="en-GB" altLang="zh-TW" dirty="0"/>
              <a:t>Level 1</a:t>
            </a:r>
          </a:p>
          <a:p>
            <a:pPr lvl="2"/>
            <a:r>
              <a:rPr lang="en-GB" altLang="zh-TW" dirty="0"/>
              <a:t>Level 2</a:t>
            </a:r>
          </a:p>
          <a:p>
            <a:pPr lvl="3"/>
            <a:r>
              <a:rPr lang="en-GB" altLang="zh-TW" dirty="0"/>
              <a:t>Level 3</a:t>
            </a:r>
          </a:p>
          <a:p>
            <a:pPr lvl="4"/>
            <a:r>
              <a:rPr lang="en-GB" altLang="zh-TW" dirty="0"/>
              <a:t>Level 4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8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44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7401">
          <p15:clr>
            <a:srgbClr val="FBAE40"/>
          </p15:clr>
        </p15:guide>
        <p15:guide id="3" pos="9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2024064"/>
            <a:ext cx="11332509" cy="4321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7988" y="1586507"/>
            <a:ext cx="11332509" cy="359941"/>
          </a:xfrm>
          <a:prstGeom prst="callout1">
            <a:avLst>
              <a:gd name="adj1" fmla="val 100536"/>
              <a:gd name="adj2" fmla="val 100112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8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983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906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">
          <p15:clr>
            <a:srgbClr val="FBAE40"/>
          </p15:clr>
        </p15:guide>
        <p15:guide id="2" orient="horz" pos="4042">
          <p15:clr>
            <a:srgbClr val="FBAE40"/>
          </p15:clr>
        </p15:guide>
        <p15:guide id="3" pos="257">
          <p15:clr>
            <a:srgbClr val="FBAE40"/>
          </p15:clr>
        </p15:guide>
        <p15:guide id="4" orient="horz" pos="123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F641177-0307-4560-B9E4-B0B53B756C21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07988" y="4221163"/>
            <a:ext cx="11332509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A1A0AB36-A5D0-42CC-9CAC-1F9062CB674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3799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tabLst>
                <a:tab pos="11303000" algn="l"/>
              </a:tabLst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08441594-DCE9-48B3-AC8B-4B1A05646A3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1219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5509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102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005263"/>
            <a:ext cx="11332509" cy="2339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3274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8600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3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184649"/>
            <a:ext cx="11332509" cy="2160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740933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00759"/>
            <a:ext cx="11332509" cy="2140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148466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074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2364">
          <p15:clr>
            <a:srgbClr val="FBAE40"/>
          </p15:clr>
        </p15:guide>
        <p15:guide id="3" orient="horz" pos="95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400550"/>
            <a:ext cx="11332509" cy="19499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971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2024065"/>
            <a:ext cx="11332509" cy="1947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581227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7996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57">
          <p15:clr>
            <a:srgbClr val="FBAE40"/>
          </p15:clr>
        </p15:guide>
        <p15:guide id="3" orient="horz" pos="123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B6BC5F27-E9F6-40C0-A26F-CF6C4705AD90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5"/>
            <a:ext cx="562707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79FBBDF0-3048-45E6-BC86-D9360370AE6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1628775"/>
            <a:ext cx="561681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5155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58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1592263"/>
            <a:ext cx="5627077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56177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7615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423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2024062"/>
            <a:ext cx="374427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623524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7532308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3524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091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1592263"/>
            <a:ext cx="374427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200808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592263"/>
            <a:ext cx="7532308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200808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489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2017392"/>
            <a:ext cx="7532308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624881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17392"/>
            <a:ext cx="3744276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81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7096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1592264"/>
            <a:ext cx="7532308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192833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4"/>
            <a:ext cx="3744276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3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2648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173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170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9864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602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41CB5B44-019E-4F14-97DD-AF23159E78D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221162"/>
            <a:ext cx="5627077" cy="21240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D70E5A9-41E4-4D45-AD38-1F3CEF9393A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3800111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A5CDEB7-0FA8-4B31-8E06-F3541629D6D2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221162"/>
            <a:ext cx="5627077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5E03F30-C1F6-4313-B163-2883AE1B5C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3800115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343FAD0A-B607-4163-B361-C1F3CB5A511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36325"/>
            <a:ext cx="11342769" cy="213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2227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93">
          <p15:clr>
            <a:srgbClr val="FBAE40"/>
          </p15:clr>
        </p15:guide>
        <p15:guide id="2" pos="16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320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096000" y="2033519"/>
            <a:ext cx="5645745" cy="19331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2784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373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167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399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397728" y="4376274"/>
            <a:ext cx="5627077" cy="1968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97728" y="4006402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21771"/>
            <a:ext cx="5635485" cy="19355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397728" y="1614575"/>
            <a:ext cx="56457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4950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2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398355"/>
            <a:ext cx="5627077" cy="1946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1009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05337" y="2035318"/>
            <a:ext cx="5627077" cy="19313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896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2035317"/>
            <a:ext cx="5616817" cy="43099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45A679F0-7236-4334-90D5-8BD873976C21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397728" y="1618969"/>
            <a:ext cx="562707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9119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2030014"/>
            <a:ext cx="5627077" cy="4351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E36B0E1-6B8A-4A0D-9ADA-953E16F0539B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113420" y="1614908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407926" y="4400549"/>
            <a:ext cx="5616880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407926" y="4001007"/>
            <a:ext cx="561688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30014"/>
            <a:ext cx="5635486" cy="193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07926" y="1613663"/>
            <a:ext cx="563554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073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  <p15:guide id="3" orient="horz" pos="250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13DAD6F2-9CD2-419A-AADB-9C6F463BAC5D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5D0F3B5-4CA9-457E-97EA-106D2B4E2E9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A6D3C757-C209-4BD9-B547-0247D170CC1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E1F65459-E369-4A5E-B52E-535D7846BEC6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9772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50EBC26-A16E-4E46-83E1-7CE9406AAD3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7080BE1-CC31-4005-A203-224583BF000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7426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59126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2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7D1C4159-E098-4623-9DD4-1F6C7473EBB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5E0CF8A-F0A4-41A0-BB36-42D8B25C526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4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5E9867DA-A293-4509-815E-5276F56F595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C200E8F-3A6F-48C1-BC18-5705222CCE4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0D2FFE41-070C-4FFF-B242-8193FF7A09B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47413EB-5A05-4C6F-A883-B11BF169F77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1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7207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7768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0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0635956E-268B-43D9-BF45-7B785C33D71A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611466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6EB1493D-D832-4EC9-AA51-C637D57BB44D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39772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FAB6F57-8C3A-4EB7-B362-4FFF671A710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45436DE-00A6-470B-B2AB-75773A761CA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426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72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F408BB9B-AC52-40F8-A854-65380A49C106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618" y="4400550"/>
            <a:ext cx="753187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7BEC4BC6-0E90-46D6-86FC-2BDFF9109B33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618" y="4003126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D805E85D-264E-48A1-93C9-ACE8F51FF69B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6EF9368-91D5-4441-B93F-09783401AF5C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397728" y="400312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F620703C-EB94-423A-A6A7-15C06D712A5D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208618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FCD21B2C-2AE5-4943-882A-2DA016D2D1E5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208618" y="162747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E30F5FE-B230-470A-B748-5461DCC6221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F8325A8B-C2C0-4387-B5D1-078AB50B732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747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3186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43128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A3B85F03-C5E0-4B8A-9D2F-DC06BCCB1019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8018651" y="4400549"/>
            <a:ext cx="3721846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998954B-6896-4EF9-87DA-6227FC4DDDC0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8018651" y="400101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0C6BC5E7-EA23-48EF-9E8C-308BB821D9C1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07411" y="4400549"/>
            <a:ext cx="7531879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F724201-757E-4FC4-BF08-BB2F5D5D17C0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07411" y="400101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BDB2BECD-8AB9-489A-BF6B-18DF68B9003B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8FE39BF9-6EAA-4D70-9413-9DA2803EFB8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018651" y="1627473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C3DD2393-3438-449F-AB3B-CF90969CC048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07411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4B9AF990-4A38-42A1-91E6-A8CA4D9F2FCF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411" y="1627473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5068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28775"/>
            <a:ext cx="11342769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6680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8765"/>
            <a:ext cx="3721846" cy="1936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2796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38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15847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2094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8264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1967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7219A0-C1B8-3176-077A-18C833F7E9C8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124484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4961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392335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8063F31F-F1FF-3779-154C-C8D08EB68E99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096000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2747DD-3FA6-8DAB-3DA5-21EEC2F86367}"/>
              </a:ext>
            </a:extLst>
          </p:cNvPr>
          <p:cNvSpPr>
            <a:spLocks noGrp="1"/>
          </p:cNvSpPr>
          <p:nvPr>
            <p:ph type="body" idx="53" hasCustomPrompt="1"/>
          </p:nvPr>
        </p:nvSpPr>
        <p:spPr>
          <a:xfrm>
            <a:off x="6096000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62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3997">
          <p15:clr>
            <a:srgbClr val="FBAE40"/>
          </p15:clr>
        </p15:guide>
        <p15:guide id="6" orient="horz" pos="2772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4400550"/>
            <a:ext cx="560673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4010342"/>
            <a:ext cx="560673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407988" y="2024063"/>
            <a:ext cx="371158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988" y="1630278"/>
            <a:ext cx="371158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C7B991D-9D36-0347-226D-8E4655C48B2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6114324" y="4400550"/>
            <a:ext cx="561699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0CBCF4A-E12E-7C78-0A84-11F7744BEAC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6114324" y="4010342"/>
            <a:ext cx="561699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483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orient="horz" pos="754">
          <p15:clr>
            <a:srgbClr val="FBAE40"/>
          </p15:clr>
        </p15:guide>
        <p15:guide id="8" pos="23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9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49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1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7" name="Content Placeholder 3">
            <a:extLst>
              <a:ext uri="{FF2B5EF4-FFF2-40B4-BE49-F238E27FC236}">
                <a16:creationId xmlns:a16="http://schemas.microsoft.com/office/drawing/2014/main" id="{5243BAB5-2683-FC27-0840-90042774B97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4235077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699ACCF4-C618-5EE9-15B6-9671CECEAFE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4235077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9" name="Content Placeholder 3">
            <a:extLst>
              <a:ext uri="{FF2B5EF4-FFF2-40B4-BE49-F238E27FC236}">
                <a16:creationId xmlns:a16="http://schemas.microsoft.com/office/drawing/2014/main" id="{6A54C7B4-B66F-E24F-6455-7202C8C5C0B7}"/>
              </a:ext>
            </a:extLst>
          </p:cNvPr>
          <p:cNvSpPr>
            <a:spLocks noGrp="1"/>
          </p:cNvSpPr>
          <p:nvPr>
            <p:ph sz="half" idx="55" hasCustomPrompt="1"/>
          </p:nvPr>
        </p:nvSpPr>
        <p:spPr>
          <a:xfrm>
            <a:off x="8018651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0B09CA03-8042-D719-0152-371B18C662FD}"/>
              </a:ext>
            </a:extLst>
          </p:cNvPr>
          <p:cNvSpPr>
            <a:spLocks noGrp="1"/>
          </p:cNvSpPr>
          <p:nvPr>
            <p:ph type="body" idx="56" hasCustomPrompt="1"/>
          </p:nvPr>
        </p:nvSpPr>
        <p:spPr>
          <a:xfrm>
            <a:off x="8018651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6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6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4062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  <p15:guide id="8" orient="horz" pos="754">
          <p15:clr>
            <a:srgbClr val="FBAE40"/>
          </p15:clr>
        </p15:guide>
        <p15:guide id="9" orient="horz" pos="119">
          <p15:clr>
            <a:srgbClr val="FBAE40"/>
          </p15:clr>
        </p15:guide>
        <p15:guide id="10" orient="horz" pos="98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theme" Target="../theme/theme1.xml"/><Relationship Id="rId42" Type="http://schemas.openxmlformats.org/officeDocument/2006/relationships/image" Target="../media/image1.jpg"/><Relationship Id="rId4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7">
            <a:extLst>
              <a:ext uri="{FF2B5EF4-FFF2-40B4-BE49-F238E27FC236}">
                <a16:creationId xmlns:a16="http://schemas.microsoft.com/office/drawing/2014/main" id="{D010357D-4661-5BCD-578C-B51C051AA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3198" y="6377755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 dirty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 dirty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 dirty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 dirty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61ED8FB1-F04A-E202-F3FB-6344E36C172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1143003"/>
            <a:ext cx="11431385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10" name="Rectangle 16">
            <a:extLst>
              <a:ext uri="{FF2B5EF4-FFF2-40B4-BE49-F238E27FC236}">
                <a16:creationId xmlns:a16="http://schemas.microsoft.com/office/drawing/2014/main" id="{1BE3D5AD-E6C4-1426-1947-D7C5C1D61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81846" y="5997333"/>
            <a:ext cx="310154" cy="233670"/>
          </a:xfrm>
          <a:prstGeom prst="rect">
            <a:avLst/>
          </a:prstGeom>
          <a:solidFill>
            <a:srgbClr val="D9F1FF"/>
          </a:solidFill>
          <a:ln>
            <a:noFill/>
          </a:ln>
        </p:spPr>
        <p:txBody>
          <a:bodyPr lIns="54000" tIns="0" rIns="0" bIns="0"/>
          <a:lstStyle>
            <a:lvl1pPr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1pPr>
            <a:lvl2pPr marL="742950" indent="-28575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2pPr>
            <a:lvl3pPr marL="11430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3pPr>
            <a:lvl4pPr marL="16002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4pPr>
            <a:lvl5pPr marL="20574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5pPr>
            <a:lvl6pPr marL="25146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6pPr>
            <a:lvl7pPr marL="29718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7pPr>
            <a:lvl8pPr marL="34290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8pPr>
            <a:lvl9pPr marL="38862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9pPr>
          </a:lstStyle>
          <a:p>
            <a:pPr algn="just" eaLnBrk="1" hangingPunct="1">
              <a:defRPr/>
            </a:pPr>
            <a:fld id="{3A06688C-8A71-4C26-9DF0-BC8547FBA8DD}" type="slidenum">
              <a:rPr lang="en-US" altLang="zh-TW" sz="1600" baseline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Arial" panose="020B0604020202020204" pitchFamily="34" charset="0"/>
              </a:rPr>
              <a:pPr algn="just" eaLnBrk="1" hangingPunct="1">
                <a:defRPr/>
              </a:pPr>
              <a:t>‹#›</a:t>
            </a:fld>
            <a:endParaRPr lang="en-US" altLang="zh-TW" sz="1600" baseline="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9A7D5925-9BBE-FE6F-FD7D-CB86CCD53C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6415350"/>
            <a:ext cx="11431383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4" name="Rectangle 47">
            <a:extLst>
              <a:ext uri="{FF2B5EF4-FFF2-40B4-BE49-F238E27FC236}">
                <a16:creationId xmlns:a16="http://schemas.microsoft.com/office/drawing/2014/main" id="{D6D4E521-F499-AF68-FF7D-3A638C99BBF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621191" y="7872817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 dirty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 dirty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 dirty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 dirty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9" y="6437589"/>
            <a:ext cx="9230378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  <p:pic>
        <p:nvPicPr>
          <p:cNvPr id="2" name="圖片 1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142C6C8-979F-2A51-F159-6CC12369D203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924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50" r:id="rId2"/>
    <p:sldLayoutId id="2147483703" r:id="rId3"/>
    <p:sldLayoutId id="2147483660" r:id="rId4"/>
    <p:sldLayoutId id="2147483696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  <p:sldLayoutId id="2147483716" r:id="rId18"/>
    <p:sldLayoutId id="2147483717" r:id="rId19"/>
    <p:sldLayoutId id="2147483718" r:id="rId20"/>
    <p:sldLayoutId id="2147483719" r:id="rId21"/>
    <p:sldLayoutId id="2147483720" r:id="rId22"/>
    <p:sldLayoutId id="2147483721" r:id="rId23"/>
    <p:sldLayoutId id="2147483722" r:id="rId24"/>
    <p:sldLayoutId id="2147483723" r:id="rId25"/>
    <p:sldLayoutId id="2147483724" r:id="rId26"/>
    <p:sldLayoutId id="2147483725" r:id="rId27"/>
    <p:sldLayoutId id="2147483726" r:id="rId28"/>
    <p:sldLayoutId id="2147483727" r:id="rId29"/>
    <p:sldLayoutId id="2147483728" r:id="rId30"/>
    <p:sldLayoutId id="2147483729" r:id="rId31"/>
    <p:sldLayoutId id="2147483730" r:id="rId32"/>
    <p:sldLayoutId id="2147483731" r:id="rId33"/>
    <p:sldLayoutId id="2147483732" r:id="rId34"/>
    <p:sldLayoutId id="2147483733" r:id="rId35"/>
    <p:sldLayoutId id="2147483734" r:id="rId36"/>
    <p:sldLayoutId id="2147483735" r:id="rId37"/>
    <p:sldLayoutId id="2147483736" r:id="rId38"/>
    <p:sldLayoutId id="2147483737" r:id="rId39"/>
    <p:sldLayoutId id="2147483738" r:id="rId40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債務結構、發債量與融資缺口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CoreWeave 信用風險與融資需求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2026.10.16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結論摘要</a:t>
            </a:r>
          </a:p>
          <a:p>
            <a:r>
              <a:t>信用市場訊號</a:t>
            </a:r>
          </a:p>
          <a:p>
            <a:r>
              <a:t>債務結構與發債量</a:t>
            </a:r>
          </a:p>
          <a:p>
            <a:r>
              <a:t>融資需求</a:t>
            </a:r>
          </a:p>
          <a:p>
            <a:r>
              <a:t>其他風險與後續觀察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結論摘要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七大風險面向：兩項高、三項偏高、兩項中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市場訊號：5Y CDS 由 368bp 升至 1,194.5bp，隱含 5 年違約機率約 60%</a:t>
            </a:r>
          </a:p>
          <a:p>
            <a:pPr lvl="1"/>
            <a:r>
              <a:t>無擔保債跌破 80 美分、殖利率逾 15%；評等仍為 B+ / Ba3</a:t>
            </a:r>
          </a:p>
          <a:p>
            <a:pPr/>
            <a:r>
              <a:t>債務：本金 356 億美元；2026 年截至 9 月新增約 277 億，為 2025 年的 2.4 倍</a:t>
            </a:r>
          </a:p>
          <a:p>
            <a:pPr/>
            <a:r>
              <a:t>融資：2026 年資金大致打平但幾無緩衝；2027 年估計仍需約 280–330 億美元</a:t>
            </a:r>
          </a:p>
          <a:p>
            <a:pPr/>
            <a:r>
              <a:t>關鍵：專案層 DDTL 仍借得到，公司層只能靠可轉債與增資，股東稀釋</a:t>
            </a:r>
          </a:p>
          <a:p>
            <a:pPr/>
            <a:r>
              <a:t>支撐：backlog 1,042 億美元、Nvidia 產能回購承諾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信用指標進入困境區間，核心問題在公司層融資管道</a:t>
            </a:r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資料來源：Bloomberg、ICE、TRACE、CoreWeave 10-Q、公司公告；本報告估算；資料日期：2026/10/15。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七大風險面向：市場信用與獲利能力為高風險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07988" y="1203650"/>
          <a:ext cx="11323327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0804"/>
                <a:gridCol w="1493186"/>
                <a:gridCol w="6719337"/>
              </a:tblGrid>
              <a:tr h="43180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風險面向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風險程度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重點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1. 市場隱含信用風險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CDS 1,194.5bp，債價 &lt; 80，殖利率 &gt; 15%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2. 再融資與流動性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偏高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短期可應付；資本支出缺口須持續融資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3. 獲利與償債能力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Q2 淨損 6.26 億美元；Q3 利息費用季增約 40%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4. 客戶集中與交易對手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偏高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前兩大客戶約占營收 65%，曝險移向 OpenAI、Meta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5. 執行與交付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全年營收集中下半年，Q3 財報為首個檢驗點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6. 擔保品與技術折舊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中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GPU 擔保貸款 136 億美元；貸款 5 年 vs. 合約約 3 年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7. 傳染與系統風險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偏高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Nebius、Oracle 同步下跌，被視為 AI 信貸指標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資料來源：Bloomberg、CNBC、CoreWeave 10-Q；本報告整理；資料日期：2026/10/15。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信用市場訊號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CDS、債券價格與評等落差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4" sz="half"/>
          </p:nvPr>
        </p:nvSpPr>
        <p:spPr/>
        <p:txBody>
          <a:bodyPr/>
          <a:lstStyle/>
          <a:p>
            <a:pPr/>
            <a:r>
              <a:t>1,000bp 一般視為信用困境門檻</a:t>
            </a:r>
          </a:p>
          <a:p>
            <a:pPr/>
            <a:r>
              <a:t>隱含年違約率 ≈ 1,194.5 ÷ (1 − 40%) ≈ 19.9%</a:t>
            </a:r>
          </a:p>
          <a:p>
            <a:pPr/>
            <a:r>
              <a:t>5 年累積違約機率約 63%；7 月底約 50%</a:t>
            </a:r>
          </a:p>
          <a:p>
            <a:pPr/>
            <a:r>
              <a:t>10/15 為盤中高點，同日黃仁勳發言後股價反彈 5.94%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解讀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CoreWeave 5Y CDS（bp）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5Y CDS 七個交易日內從 368bp 升至 1,194.5bp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97728" y="1592263"/>
          <a:ext cx="5617746" cy="4752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資料來源：ICE Data Services、Bloomberg；資料日期：2026/10/15。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債價跌破 80、殖利率逾 15%，市場定價遠低於評等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07988" y="1203650"/>
          <a:ext cx="11323327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3606"/>
                <a:gridCol w="3063959"/>
                <a:gridCol w="4795762"/>
              </a:tblGrid>
              <a:tr h="43180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數值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說明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5Y CDS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1,194.5bp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10/15 盤中歷史新高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2031 年 9% 無擔保債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79.9 / 殖利率 15.6%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10/14 單日跌 3.3 美分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2031 年 9.75% 無擔保債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約 78.65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單日跌約 2.6 美分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股價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10/14 收 65.78 美元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四個交易日市值蒸發逾 100 億美元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S&amp;P / Moody's 評等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B+ / Ba3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投機級但非困境；待核對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可轉債轉換價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約 97.85 美元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股價遠低於此，可轉債實質為純債務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資料來源：TRACE、ICE、Bloomberg、CNBC；資料日期：2026/10/15。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債務結構與發債量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專案層與公司層兩層架構；2025–2026 年發行明細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4" sz="half"/>
          </p:nvPr>
        </p:nvSpPr>
        <p:spPr/>
        <p:txBody>
          <a:bodyPr/>
          <a:lstStyle/>
          <a:p>
            <a:pPr/>
            <a:r>
              <a:t>加計租賃，總債務與租賃約 500–520 億美元</a:t>
            </a:r>
          </a:p>
          <a:p>
            <a:pPr/>
            <a:r>
              <a:t>現金 55 億美元，總流動性 156 億美元</a:t>
            </a:r>
          </a:p>
          <a:p>
            <a:pPr/>
            <a:r>
              <a:t>6/30 後新增 DDTL 26 億、可轉債 37 億美元</a:t>
            </a:r>
          </a:p>
          <a:p>
            <a:pPr/>
            <a:r>
              <a:t>無擔保債票息 8.5–9.75%，可轉債 1.75–2.875%</a:t>
            </a:r>
          </a:p>
          <a:p>
            <a:pPr/>
            <a:r>
              <a:t>DDTL 利率 SOFR+225～+550bp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重點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債務組成（2026/6/30，億美元）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債務本金 356 億美元，近半為公司層無擔保票據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97728" y="1592263"/>
          <a:ext cx="5617745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2084"/>
                <a:gridCol w="919267"/>
                <a:gridCol w="1736394"/>
              </a:tblGrid>
              <a:tr h="43180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類別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本金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擔保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DDTL 定期貸款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GPU、客戶合約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票據（無擔保債 + 可轉債）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166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無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循環信用額度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約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其他（OEM 融資等，估算）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約 49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合計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356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資料來源：CoreWeave 10-Q（2026 Q2）、StockTitan；其他類為本報告推算；資料日期：2026/6/30。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4" sz="half"/>
          </p:nvPr>
        </p:nvSpPr>
        <p:spPr/>
        <p:txBody>
          <a:bodyPr/>
          <a:lstStyle/>
          <a:p>
            <a:pPr/>
            <a:r>
              <a:t>2026–2027 年到期主要為 DDTL 依合約現金流攤還與 OEM 融資</a:t>
            </a:r>
          </a:p>
          <a:p>
            <a:pPr/>
            <a:r>
              <a:t>公司表示 2029 年前無重大子彈型到期</a:t>
            </a:r>
          </a:p>
          <a:p>
            <a:pPr/>
            <a:r>
              <a:t>第一筆無擔保債（9.25%，20 億美元）2030 年 6 月到期</a:t>
            </a:r>
          </a:p>
          <a:p>
            <a:pPr/>
            <a:r>
              <a:t>短期不是再融資問題，而是新增資本支出的資金來源</a:t>
            </a:r>
          </a:p>
          <a:p>
            <a:pPr/>
            <a:r>
              <a:t>2028–29 年金額為總額減其他年度推算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解讀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到期本金分布（億美元）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2027 年前到期多為合約攤還，無擔保債 2030 年起到期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97728" y="1592263"/>
          <a:ext cx="5617746" cy="4752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資料來源：CoreWeave 10-Q（2026 Q2）、Q1 2026 法說會、Forbes；資料日期：2026/6/30。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4" sz="half"/>
          </p:nvPr>
        </p:nvSpPr>
        <p:spPr/>
        <p:txBody>
          <a:bodyPr/>
          <a:lstStyle/>
          <a:p>
            <a:pPr/>
            <a:r>
              <a:t>DDTL 占 2026 年發行逾一半，用於已簽約客戶的 GPU</a:t>
            </a:r>
          </a:p>
          <a:p>
            <a:pPr/>
            <a:r>
              <a:t>可轉債 2026 年增至 72 億美元，票息低但有稀釋</a:t>
            </a:r>
          </a:p>
          <a:p>
            <a:pPr/>
            <a:r>
              <a:t>另有約 10 億美元私募增資，以及最多 3,500 萬股 ATM</a:t>
            </a:r>
          </a:p>
          <a:p>
            <a:pPr/>
            <a:r>
              <a:t>公司口徑：年初至 8 月取得逾 320 億美元資金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重點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新增債務（億美元；DDTL 以額度計）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2026 年新增債務約 277 億美元，為 2025 年的 2.4 倍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97728" y="1592263"/>
          <a:ext cx="5617746" cy="4752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資料來源：CoreWeave 公司公告、Q2 2026 法說會；本報告彙整；資料日期：2026/9/30。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2025 年：首次發行無擔保債，票息 9% 以上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07988" y="1203650"/>
          <a:ext cx="11323325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3876"/>
                <a:gridCol w="1476955"/>
                <a:gridCol w="2215433"/>
                <a:gridCol w="1723115"/>
                <a:gridCol w="1353876"/>
                <a:gridCol w="3200070"/>
              </a:tblGrid>
              <a:tr h="4318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類型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金額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利率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到期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備註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2025/5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無擔保債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20 億美元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9.25%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2030/6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首次發債，由 15 億上調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2025/7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無擔保債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17.5 億美元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9.00%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2031/2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本週跌至 79.9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2025/7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DDTL 3.0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26 億美元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SOFR+400bp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2030/8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OpenAI 合約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2025/9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DDTL 2.1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最高 30 億美元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SOFR+425bp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2026/7 起季度攤還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2025/12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可轉債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22.5 億美元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1.75%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2031/12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由 20 億上調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資料來源：CoreWeave 公司公告、SEC 申報；資料日期：2025/12/31。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2026 年：DDTL 與可轉債為主力，DDTL 利差逐筆擴大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07988" y="1203650"/>
          <a:ext cx="11323324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4321"/>
                <a:gridCol w="1990914"/>
                <a:gridCol w="2364211"/>
                <a:gridCol w="1742050"/>
                <a:gridCol w="1368753"/>
                <a:gridCol w="2613075"/>
              </a:tblGrid>
              <a:tr h="3556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類型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金額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利率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到期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備註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2026/3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DDTL 4.0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85 億美元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SOFR+225bp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2032/3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A3，投資級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2026/4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可轉債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35 億美元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1.75%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2032/10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由 30 億上調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2026/4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無擔保債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27.5 億美元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9.75%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2031/10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含 10 億增發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2026/5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DDTL 5.0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31 億美元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SOFR+450bp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2031/11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Ba2 / BB+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2026/6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無擔保債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12.5 億美元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9.625%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2032/7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2026/6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歐元無擔保債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20 億歐元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8.50%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2032/7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約 23 億美元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2026/8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DDTL 5.5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26 億美元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SOFR+550bp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約 2031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合約僅約 3 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2026/9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可轉債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37 億美元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2.875%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2033/4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轉換價 97.85 美元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2026/9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ATM 增資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最多 3,500 萬股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動用量未揭露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資料來源：CoreWeave 公司公告、Moody's、Fitch；資料日期：2026/9/30。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4" sz="half"/>
          </p:nvPr>
        </p:nvSpPr>
        <p:spPr/>
        <p:txBody>
          <a:bodyPr/>
          <a:lstStyle/>
          <a:p>
            <a:pPr/>
            <a:r>
              <a:t>Q3 指引 8.6–9.4 億美元，季增約 40%</a:t>
            </a:r>
          </a:p>
          <a:p>
            <a:pPr/>
            <a:r>
              <a:t>年化約 36 億美元 vs. 2026 營收指引 124–132 億美元</a:t>
            </a:r>
          </a:p>
          <a:p>
            <a:pPr/>
            <a:r>
              <a:t>Q2 淨損 6.26 億美元，利息是虧損主因之一</a:t>
            </a:r>
          </a:p>
          <a:p>
            <a:pPr/>
            <a:r>
              <a:t>新的公司層資金若以 15% 成本取得，負擔將再加重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解讀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淨利息費用（百萬美元）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利息費用年化約 36 億美元，約占營收 28%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97728" y="1592263"/>
          <a:ext cx="5617746" cy="4752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資料來源：CoreWeave Q2 2026 財報與指引；資料日期：2026/8/11。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融資需求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2026 下半年與 2027 年資金缺口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2026 下半年資金大致打平，但緩衝僅約 10–15 億美元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07988" y="1203650"/>
          <a:ext cx="11323326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998"/>
                <a:gridCol w="2764998"/>
                <a:gridCol w="4871664"/>
                <a:gridCol w="1316666"/>
              </a:tblGrid>
              <a:tr h="43180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資金用途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億美元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資金來源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億美元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下半年資本支出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約 199（179–219）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6/30 現金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下半年到期本金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44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6/30 未動用額度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約 101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7–9 月新融資（DDTL 5.5 + 可轉債）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下半年營運現金流（假設同上半年）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約 37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合計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約 243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合計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約 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資料來源：本報告估算：全年資本支出指引 350–390 億減上半年 171 億；未動用額度多綁定特定合約；現金須保留營運水位；資料日期：2026/6/30。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2027 年估計仍需新融資約 280–330 億美元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07988" y="1203650"/>
          <a:ext cx="11323326" cy="215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5608"/>
                <a:gridCol w="2209429"/>
                <a:gridCol w="6628289"/>
              </a:tblGrid>
              <a:tr h="43180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億美元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假設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資本支出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約 370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與 2026 年指引中值持平；公司尚未給 2027 指引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到期本金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62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10-Q 到期表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減：營運現金流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−100 ～ −150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營收成長、含客戶預付款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新融資需求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約 280–330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與 2026 年發行量相當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資料來源：本報告情境估算；CoreWeave 10-Q、Q2 2026 法說會；資料日期：2026/10/15。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專案層管道仍開放，公司層無擔保債已近乎關閉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07988" y="1203650"/>
          <a:ext cx="11323327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732"/>
                <a:gridCol w="4076398"/>
                <a:gridCol w="5435197"/>
              </a:tblGrid>
              <a:tr h="43180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專案層（DDTL）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公司層（無擔保債／可轉債／股權）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用途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已簽約客戶的 GPU 與設備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股本份額、資料中心、營運資金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擔保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GPU 與客戶合約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無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目前成本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SOFR+225～+550bp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無擔保債殖利率約 15%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市場狀況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8 月 DDTL 5.5 超額認購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新無擔保債幾乎不可行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風險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合約年期縮短（約 3 年）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依賴可轉債與 ATM，股東稀釋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資料來源：CoreWeave 公司公告、TRACE、Bloomberg；資料日期：2026/10/15。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其他風險與後續觀察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客戶集中、執行風險與支撐因素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4" sz="half"/>
          </p:nvPr>
        </p:nvSpPr>
        <p:spPr/>
        <p:txBody>
          <a:bodyPr/>
          <a:lstStyle/>
          <a:p>
            <a:pPr/>
            <a:r>
              <a:t>2026 年底目標上線 1.7GW；2025 年曾因開發商延遲下修營收</a:t>
            </a:r>
          </a:p>
          <a:p>
            <a:pPr/>
            <a:r>
              <a:t>全年營收指引隱含下半年 76–80 億美元，比上半年多約 65%</a:t>
            </a:r>
          </a:p>
          <a:p>
            <a:pPr/>
            <a:r>
              <a:t>GPU 擔保貸款 136 億美元；DDTL 5.5 貸款約 5 年、合約約 3 年</a:t>
            </a:r>
          </a:p>
          <a:p>
            <a:pPr/>
            <a:r>
              <a:t>Nebius 10/14 跌破 200 美元，Oracle 同步走弱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執行、擔保品與傳染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6" sz="half"/>
          </p:nvPr>
        </p:nvSpPr>
        <p:spPr/>
        <p:txBody>
          <a:bodyPr/>
          <a:lstStyle/>
          <a:p>
            <a:pPr/>
            <a:r>
              <a:t>2025 全年：Microsoft 約占營收 67%</a:t>
            </a:r>
          </a:p>
          <a:p>
            <a:pPr/>
            <a:r>
              <a:t>2026 Q1：前兩大客戶合計約 65%</a:t>
            </a:r>
          </a:p>
          <a:p>
            <a:pPr/>
            <a:r>
              <a:t>新合約：Meta 約 210 億美元、OpenAI、Anthropic、Google</a:t>
            </a:r>
          </a:p>
          <a:p>
            <a:pPr/>
            <a:r>
              <a:t>曝險由 Microsoft 移向 OpenAI（非投資等級、仍在燒錢）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客戶集中與交易對手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客戶曝險移向 OpenAI 與 Meta，營收集中於下半年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資料來源：CoreWeave 10-K、10-Q、Q2 財報、SemiAnalysis、TheStreet；資料日期：2026/10/15。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4" sz="half"/>
          </p:nvPr>
        </p:nvSpPr>
        <p:spPr/>
        <p:txBody>
          <a:bodyPr/>
          <a:lstStyle/>
          <a:p>
            <a:pPr/>
            <a:r>
              <a:t>Backlog 需先投入資本支出才能轉為營收</a:t>
            </a:r>
          </a:p>
          <a:p>
            <a:pPr/>
            <a:r>
              <a:t>交付前現金流為負，仍須依賴融資</a:t>
            </a:r>
          </a:p>
          <a:p>
            <a:pPr/>
            <a:r>
              <a:t>Bernstein 維持表現落後大盤，稱商業模式「經濟上有挑戰」</a:t>
            </a:r>
          </a:p>
          <a:p>
            <a:pPr/>
            <a:r>
              <a:t>評等與市場價格落差大，評等下調風險上升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保留意見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6" sz="half"/>
          </p:nvPr>
        </p:nvSpPr>
        <p:spPr/>
        <p:txBody>
          <a:bodyPr/>
          <a:lstStyle/>
          <a:p>
            <a:pPr/>
            <a:r>
              <a:t>Backlog 1,042 億美元，年增約 246%</a:t>
            </a:r>
          </a:p>
          <a:p>
            <a:pPr lvl="1"/>
            <a:r>
              <a:t>Q3 初新增逾 250 億美元，多為 take-or-pay 長約</a:t>
            </a:r>
          </a:p>
          <a:p>
            <a:pPr/>
            <a:r>
              <a:t>Nvidia 持股約 20 億美元，承諾 2032 年前最多回購 63 億美元閒置產能</a:t>
            </a:r>
          </a:p>
          <a:p>
            <a:pPr/>
            <a:r>
              <a:t>Deutsche Bank 維持買進，目標價 150 美元</a:t>
            </a:r>
          </a:p>
          <a:p>
            <a:pPr/>
            <a:r>
              <a:t>ARK 逢低買進約 1,340 萬美元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支撐因素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Backlog 與 Nvidia 提供支撐，但無法取代融資管道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資料來源：Bloomberg、Benzinga、CoreWeave Q2 財報；資料日期：2026/10/15。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後續觀察：雲端業者資本支出、融資條件與 Q3 財報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07988" y="1203650"/>
          <a:ext cx="11323327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90737"/>
                <a:gridCol w="5032590"/>
              </a:tblGrid>
              <a:tr h="4318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觀察項目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為什麼重要</a:t>
                      </a:r>
                    </a:p>
                  </a:txBody>
                  <a:tcPr anchor="ctr">
                    <a:solidFill>
                      <a:srgbClr val="00377B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10 月下旬 Microsoft、Meta、Google、Amazon 財報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資本支出指引是否維持或上調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5Y CDS 走勢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能否回落至 1,000bp 以下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ATM 實際動用量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公司層資金是否已開始依賴增資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下一筆 DDTL 的利率與條款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專案層管道是否也開始收緊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是否再發無擔保債或改用有擔保結構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公司層市場是否重新打開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Q3 財報（預計 11/9–11/16，未確認）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現金餘額、Q4 資本支出、2027 初步指引</a:t>
                      </a:r>
                    </a:p>
                  </a:txBody>
                  <a:tcPr anchor="ctr">
                    <a:solidFill>
                      <a:srgbClr val="F2F5F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S&amp;P／Moody's 評等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市場價格已低於評等，調降機率上升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資料來源：公司指引、Benzinga 市場預估；本報告整理；資料日期：2026/10/15。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佈景主題3">
  <a:themeElements>
    <a:clrScheme name="品牌顏色v4">
      <a:dk1>
        <a:srgbClr val="000000"/>
      </a:dk1>
      <a:lt1>
        <a:srgbClr val="FFFFFF"/>
      </a:lt1>
      <a:dk2>
        <a:srgbClr val="234976"/>
      </a:dk2>
      <a:lt2>
        <a:srgbClr val="FFFAF6"/>
      </a:lt2>
      <a:accent1>
        <a:srgbClr val="0065B2"/>
      </a:accent1>
      <a:accent2>
        <a:srgbClr val="FFAF78"/>
      </a:accent2>
      <a:accent3>
        <a:srgbClr val="E83F0A"/>
      </a:accent3>
      <a:accent4>
        <a:srgbClr val="A36C14"/>
      </a:accent4>
      <a:accent5>
        <a:srgbClr val="4DB848"/>
      </a:accent5>
      <a:accent6>
        <a:srgbClr val="713C93"/>
      </a:accent6>
      <a:hlink>
        <a:srgbClr val="2DB7FF"/>
      </a:hlink>
      <a:folHlink>
        <a:srgbClr val="954F72"/>
      </a:folHlink>
    </a:clrScheme>
    <a:fontScheme name="KGI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佈景主題3" id="{99230912-EC4A-D44D-8896-138DCE89FCDF}" vid="{1C06976D-9AC1-B042-81C6-58295AD82A43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bbc59d3-45e3-4ebf-ab19-686277327d0a">
      <Terms xmlns="http://schemas.microsoft.com/office/infopath/2007/PartnerControls"/>
    </lcf76f155ced4ddcb4097134ff3c332f>
    <TaxCatchAll xmlns="b16bef46-1eec-4b5f-ad0d-963b9aa61a0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文件" ma:contentTypeID="0x010100B5AF206868D8874A843B10EEED0C3539" ma:contentTypeVersion="12" ma:contentTypeDescription="建立新的文件。" ma:contentTypeScope="" ma:versionID="10f3a2e85540134f41ea3f153298aa01">
  <xsd:schema xmlns:xsd="http://www.w3.org/2001/XMLSchema" xmlns:xs="http://www.w3.org/2001/XMLSchema" xmlns:p="http://schemas.microsoft.com/office/2006/metadata/properties" xmlns:ns2="4bbc59d3-45e3-4ebf-ab19-686277327d0a" xmlns:ns3="b16bef46-1eec-4b5f-ad0d-963b9aa61a0b" targetNamespace="http://schemas.microsoft.com/office/2006/metadata/properties" ma:root="true" ma:fieldsID="adc88520e3faaa04d49c78356d579868" ns2:_="" ns3:_="">
    <xsd:import namespace="4bbc59d3-45e3-4ebf-ab19-686277327d0a"/>
    <xsd:import namespace="b16bef46-1eec-4b5f-ad0d-963b9aa61a0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bbc59d3-45e3-4ebf-ab19-686277327d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影像標籤" ma:readOnly="false" ma:fieldId="{5cf76f15-5ced-4ddc-b409-7134ff3c332f}" ma:taxonomyMulti="true" ma:sspId="d4ac73bf-4f50-40c3-83c9-ed5c9e1f35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6bef46-1eec-4b5f-ad0d-963b9aa61a0b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2723ea26-017c-4025-845e-9bb91ee23d61}" ma:internalName="TaxCatchAll" ma:showField="CatchAllData" ma:web="b16bef46-1eec-4b5f-ad0d-963b9aa61a0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內容類型"/>
        <xsd:element ref="dc:title" minOccurs="0" maxOccurs="1" ma:index="4" ma:displayName="標題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9727931-9195-4DD8-BCF1-F6FDE9E763C2}">
  <ds:schemaRefs>
    <ds:schemaRef ds:uri="http://schemas.microsoft.com/office/2006/metadata/properties"/>
    <ds:schemaRef ds:uri="http://schemas.microsoft.com/office/infopath/2007/PartnerControls"/>
    <ds:schemaRef ds:uri="4bbc59d3-45e3-4ebf-ab19-686277327d0a"/>
    <ds:schemaRef ds:uri="b16bef46-1eec-4b5f-ad0d-963b9aa61a0b"/>
  </ds:schemaRefs>
</ds:datastoreItem>
</file>

<file path=customXml/itemProps2.xml><?xml version="1.0" encoding="utf-8"?>
<ds:datastoreItem xmlns:ds="http://schemas.openxmlformats.org/officeDocument/2006/customXml" ds:itemID="{31625F82-C534-43BE-99C3-57027BEC9D0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bbc59d3-45e3-4ebf-ab19-686277327d0a"/>
    <ds:schemaRef ds:uri="b16bef46-1eec-4b5f-ad0d-963b9aa61a0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D555B60-B245-449C-81A3-05918641C5F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證券_藍_簡報模板（Final）</Template>
  <TotalTime>1</TotalTime>
  <Words>16</Words>
  <Application>Microsoft Office PowerPoint</Application>
  <PresentationFormat>寬螢幕</PresentationFormat>
  <Paragraphs>2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1" baseType="lpstr">
      <vt:lpstr>Arial</vt:lpstr>
      <vt:lpstr>Calibri</vt:lpstr>
      <vt:lpstr>Symbol</vt:lpstr>
      <vt:lpstr>Wingdings</vt:lpstr>
      <vt:lpstr>佈景主題3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KGI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林佳蓁JoyceLin-PR-KGISEC</dc:creator>
  <cp:lastModifiedBy>林威宇WeiYuLin-HR-KGISEC</cp:lastModifiedBy>
  <cp:revision>3</cp:revision>
  <dcterms:created xsi:type="dcterms:W3CDTF">2025-04-01T01:37:12Z</dcterms:created>
  <dcterms:modified xsi:type="dcterms:W3CDTF">2026-10-12T02:47:09Z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0x010100B5AF206868D8874A843B10EEED0C3539</vt:lpwstr>
  </property>
</Properties>
</file>