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9"/>
    <p:sldId id="257" r:id="rId10"/>
    <p:sldId id="258" r:id="rId8"/>
    <p:sldId id="259" r:id="rId7"/>
    <p:sldId id="260" r:id="rId6"/>
    <p:sldId id="261" r:id="rId5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到期本金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Sheet1!$A$2:$A$6</c:f>
              <c:strCache>
                <c:ptCount val="5"/>
                <c:pt idx="0">
                  <c:v>2026 下半年</c:v>
                </c:pt>
                <c:pt idx="1">
                  <c:v>2027</c:v>
                </c:pt>
                <c:pt idx="2">
                  <c:v>2028–29</c:v>
                </c:pt>
                <c:pt idx="3">
                  <c:v>2030</c:v>
                </c:pt>
                <c:pt idx="4">
                  <c:v>2031 以後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62</c:v>
                </c:pt>
                <c:pt idx="2">
                  <c:v>69</c:v>
                </c:pt>
                <c:pt idx="3">
                  <c:v>32</c:v>
                </c:pt>
                <c:pt idx="4">
                  <c:v>149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DDTL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2026（截至 9 月）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可轉債</c:v>
                </c:pt>
              </c:strCache>
            </c:strRef>
          </c:tx>
          <c:spPr>
            <a:solidFill>
              <a:srgbClr val="E83F0A"/>
            </a:solidFill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2026（截至 9 月）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22.5</c:v>
                </c:pt>
                <c:pt idx="1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無擔保債</c:v>
                </c:pt>
              </c:strCache>
            </c:strRef>
          </c:tx>
          <c:spPr>
            <a:solidFill>
              <a:srgbClr val="4DB848"/>
            </a:solidFill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2026（截至 9 月）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37.5</c:v>
                </c:pt>
                <c:pt idx="1">
                  <c:v>63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利息費用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Sheet1!$A$2:$A$3</c:f>
              <c:strCache>
                <c:ptCount val="2"/>
                <c:pt idx="0">
                  <c:v>Q2 實際</c:v>
                </c:pt>
                <c:pt idx="1">
                  <c:v>Q3 指引中值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</c:v>
                </c:pt>
                <c:pt idx="1">
                  <c:v>900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subtitle here</a:t>
            </a:r>
            <a:r>
              <a:rPr lang="en-US" altLang="zh-TW" dirty="0"/>
              <a:t>/</a:t>
            </a:r>
            <a:r>
              <a:rPr lang="zh-TW" altLang="en-US" dirty="0"/>
              <a:t>副標題</a:t>
            </a:r>
            <a:endParaRPr lang="en-GB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dirty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</a:p>
          <a:p>
            <a:pPr lvl="0"/>
            <a:r>
              <a:rPr lang="en-US" dirty="0"/>
              <a:t>Name / Presenter</a:t>
            </a:r>
            <a:br>
              <a:rPr lang="en-US" dirty="0"/>
            </a:br>
            <a:r>
              <a:rPr lang="en-US" dirty="0"/>
              <a:t>Company Name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Business Division</a:t>
            </a:r>
            <a:r>
              <a:rPr lang="zh-TW" altLang="en-US" dirty="0"/>
              <a:t> </a:t>
            </a:r>
            <a:r>
              <a:rPr lang="en-US" dirty="0"/>
              <a:t>/</a:t>
            </a:r>
            <a:r>
              <a:rPr lang="zh-TW" altLang="en-US" dirty="0"/>
              <a:t> </a:t>
            </a:r>
            <a:r>
              <a:rPr lang="en-US" dirty="0"/>
              <a:t>Department</a:t>
            </a:r>
            <a:br>
              <a:rPr lang="en-US" dirty="0"/>
            </a:br>
            <a:r>
              <a:rPr lang="en-US" altLang="zh-TW" dirty="0"/>
              <a:t>Company Name</a:t>
            </a:r>
            <a:endParaRPr lang="en-GB" dirty="0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Enter your title here</a:t>
            </a:r>
            <a:r>
              <a:rPr lang="en-US" altLang="zh-TW" dirty="0"/>
              <a:t>/</a:t>
            </a:r>
            <a:r>
              <a:rPr lang="zh-TW" altLang="en-US" dirty="0"/>
              <a:t>標題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 dirty="0"/>
              <a:t>yyyy.mm.dd</a:t>
            </a:r>
            <a:endParaRPr lang="en-GB" dirty="0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lvl="0"/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章節標題</a:t>
            </a: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GB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 dirty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section here</a:t>
            </a:r>
            <a:r>
              <a:rPr lang="en-US" altLang="zh-TW" dirty="0"/>
              <a:t>/</a:t>
            </a:r>
            <a:r>
              <a:rPr lang="zh-TW" altLang="en-US" dirty="0"/>
              <a:t>過場頁</a:t>
            </a:r>
            <a:endParaRPr lang="en-GB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Enter your subsection here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 dirty="0"/>
              <a:t>01</a:t>
            </a:r>
            <a:r>
              <a:rPr lang="en-US" altLang="zh-TW" dirty="0"/>
              <a:t>/</a:t>
            </a:r>
            <a:r>
              <a:rPr lang="zh-TW" altLang="en-US" dirty="0"/>
              <a:t>章節</a:t>
            </a:r>
            <a:endParaRPr lang="en-GB" dirty="0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 dirty="0">
                <a:solidFill>
                  <a:schemeClr val="tx2"/>
                </a:solidFill>
              </a:rPr>
              <a:t>THANK YOU</a:t>
            </a:r>
            <a:endParaRPr kumimoji="1" lang="zh-TW" altLang="en-US" sz="6600" b="1" dirty="0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 dirty="0"/>
              <a:t>Click to add text</a:t>
            </a:r>
          </a:p>
          <a:p>
            <a:pPr lvl="1"/>
            <a:r>
              <a:rPr lang="en-GB" altLang="zh-TW" dirty="0"/>
              <a:t>Level 1</a:t>
            </a:r>
          </a:p>
          <a:p>
            <a:pPr lvl="2"/>
            <a:r>
              <a:rPr lang="en-GB" altLang="zh-TW" dirty="0"/>
              <a:t>Level 2</a:t>
            </a:r>
          </a:p>
          <a:p>
            <a:pPr lvl="3"/>
            <a:r>
              <a:rPr lang="en-GB" altLang="zh-TW" dirty="0"/>
              <a:t>Level 3</a:t>
            </a:r>
          </a:p>
          <a:p>
            <a:pPr lvl="4"/>
            <a:r>
              <a:rPr lang="en-GB" altLang="zh-TW" dirty="0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  <a:p>
            <a:pPr lvl="3"/>
            <a:r>
              <a:rPr lang="en-GB" dirty="0"/>
              <a:t>Level 3</a:t>
            </a:r>
          </a:p>
          <a:p>
            <a:pPr lvl="4"/>
            <a:r>
              <a:rPr lang="en-GB" dirty="0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 dirty="0"/>
              <a:t>Main text</a:t>
            </a:r>
            <a:br>
              <a:rPr lang="en-GB" dirty="0"/>
            </a:br>
            <a:r>
              <a:rPr lang="en-GB" dirty="0"/>
              <a:t>Subtitle（</a:t>
            </a:r>
            <a:r>
              <a:rPr lang="zh-TW" altLang="en-US" dirty="0"/>
              <a:t>可自由增加）</a:t>
            </a:r>
            <a:endParaRPr lang="en-GB" dirty="0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 dirty="0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jpg"/><Relationship Id="rId4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1143003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 dirty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 dirty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 dirty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債務結構、發債量與未來融資缺口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CoreWeave 債務與融資需求分析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2026.10.16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結論</a:t>
            </a:r>
          </a:p>
          <a:p>
            <a:r>
              <a:t>債務結構</a:t>
            </a:r>
          </a:p>
          <a:p>
            <a:r>
              <a:t>發債量</a:t>
            </a:r>
          </a:p>
          <a:p>
            <a:r>
              <a:t>融資需求</a:t>
            </a:r>
          </a:p>
          <a:p>
            <a:r>
              <a:t>後續觀察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債務規模：本金 356 億美元（6/30），加租賃約 500–520 億美元</a:t>
            </a:r>
          </a:p>
          <a:p>
            <a:pPr lvl="1"/>
            <a:r>
              <a:t>專案層 DDTL 136 億美元；公司層票據 166 億美元</a:t>
            </a:r>
          </a:p>
          <a:p>
            <a:pPr/>
            <a:r>
              <a:t>發債量：2026 年截至 9 月新增約 277 億美元，為 2025 年的 2.4 倍</a:t>
            </a:r>
          </a:p>
          <a:p>
            <a:pPr/>
            <a:r>
              <a:t>還需要融資：需要。2026 年資金大致打平，但幾乎沒有緩衝</a:t>
            </a:r>
          </a:p>
          <a:p>
            <a:pPr lvl="1"/>
            <a:r>
              <a:t>2027 年估計仍需新融資約 280–330 億美元</a:t>
            </a:r>
          </a:p>
          <a:p>
            <a:pPr/>
            <a:r>
              <a:t>關鍵：無擔保債殖利率約 15%，公司層缺口只能靠可轉債與增資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專案層仍借得到錢，公司層融資管道已收緊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10-Q、公司公告、TRACE；本報告估算；資料日期：2026/10/15。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債務結構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專案層與公司層兩層架構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加計租賃，總債務與租賃約 500–520 億美元</a:t>
            </a:r>
          </a:p>
          <a:p>
            <a:pPr/>
            <a:r>
              <a:t>現金 55 億美元，總流動性 156 億美元</a:t>
            </a:r>
          </a:p>
          <a:p>
            <a:pPr/>
            <a:r>
              <a:t>6/30 後新增 DDTL 26 億、可轉債 37 億美元</a:t>
            </a:r>
          </a:p>
          <a:p>
            <a:pPr/>
            <a:r>
              <a:t>無擔保債票息 8.5–9.75%，可轉債 1.75–2.875%</a:t>
            </a:r>
          </a:p>
          <a:p>
            <a:pPr/>
            <a:r>
              <a:t>DDTL 利率 SOFR+225～+550bp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重點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債務組成（2026/6/30，億美元）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債務本金 356 億美元，近半為公司層無擔保票據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7728" y="1592263"/>
          <a:ext cx="561774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084"/>
                <a:gridCol w="919267"/>
                <a:gridCol w="1736394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類別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本金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擔保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DDTL 定期貸款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GPU、客戶合約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票據（無擔保債 + 可轉債）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166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循環信用額度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其他（OEM 融資等，估算）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49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356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10-Q（2026 Q2）、StockTitan；其他類為本報告推算；資料日期：2026/6/30。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2026–2027 年到期主要為 DDTL 依合約現金流攤還與 OEM 融資</a:t>
            </a:r>
          </a:p>
          <a:p>
            <a:pPr/>
            <a:r>
              <a:t>公司表示 2029 年前無重大子彈型到期</a:t>
            </a:r>
          </a:p>
          <a:p>
            <a:pPr/>
            <a:r>
              <a:t>第一筆無擔保債（9.25%，20 億美元）2030 年 6 月到期</a:t>
            </a:r>
          </a:p>
          <a:p>
            <a:pPr/>
            <a:r>
              <a:t>短期不是再融資問題，而是新增資本支出的資金來源</a:t>
            </a:r>
          </a:p>
          <a:p>
            <a:pPr/>
            <a:r>
              <a:t>2028–29 年金額為總額減其他年度推算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解讀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到期本金分布（億美元）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年前到期多為合約攤還，無擔保債 2030 年起到期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10-Q（2026 Q2）、Q1 2026 法說會、Forbes；資料日期：2026/6/30。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發債量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2025–2026 年發行明細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DDTL 占 2026 年發行逾一半，用於已簽約客戶的 GPU</a:t>
            </a:r>
          </a:p>
          <a:p>
            <a:pPr/>
            <a:r>
              <a:t>可轉債 2026 年增至 72 億美元，票息低但有稀釋</a:t>
            </a:r>
          </a:p>
          <a:p>
            <a:pPr/>
            <a:r>
              <a:t>另有約 10 億美元私募增資，以及最多 3,500 萬股 ATM</a:t>
            </a:r>
          </a:p>
          <a:p>
            <a:pPr/>
            <a:r>
              <a:t>公司口徑：年初至 8 月取得逾 320 億美元資金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重點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新增債務（億美元；DDTL 以額度計）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年新增債務約 277 億美元，為 2025 年的 2.4 倍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公司公告、Q2 2026 法說會；本報告彙整；資料日期：2026/9/30。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年：首次發行無擔保債，票息 9% 以上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876"/>
                <a:gridCol w="1476955"/>
                <a:gridCol w="2215433"/>
                <a:gridCol w="1723115"/>
                <a:gridCol w="1353876"/>
                <a:gridCol w="3200070"/>
              </a:tblGrid>
              <a:tr h="4318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類型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利率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到期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9.25%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2030/6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首次發債，由 15 億上調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17.5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9.00%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2031/2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本週跌至 79.9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DDTL 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26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SOFR+400bp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2030/8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OpenAI 合約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DDTL 2.1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最高 30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SOFR+425bp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2026/7 起季度攤還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2025/12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22.5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2031/12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由 20 億上調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公司公告、SEC 申報；資料日期：2025/12/31。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年：DDTL 與可轉債為主力，DDTL 利差逐筆擴大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4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321"/>
                <a:gridCol w="1990914"/>
                <a:gridCol w="2364211"/>
                <a:gridCol w="1742050"/>
                <a:gridCol w="1368753"/>
                <a:gridCol w="2613075"/>
              </a:tblGrid>
              <a:tr h="3556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類型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金額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利率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到期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DDTL 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SOFR+225bp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A3，投資級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35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1.75%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2032/10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由 30 億上調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27.5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含 10 億增發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DDTL 5.0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31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SOFR+450bp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2031/11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Ba2 / BB+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無擔保債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12.5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9.625%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歐元無擔保債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 億歐元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8.50%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2032/7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約 23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DDTL 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26 億美元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SOFR+550bp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約 2031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合約僅約 3 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可轉債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37 億美元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2.875%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2033/4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轉換價 97.85 美元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2026/9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ATM 增資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最多 3,500 萬股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動用量未揭露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公司公告、Moody's、Fitch；資料日期：2026/9/30。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4" sz="half"/>
          </p:nvPr>
        </p:nvSpPr>
        <p:spPr/>
        <p:txBody>
          <a:bodyPr/>
          <a:lstStyle/>
          <a:p>
            <a:pPr/>
            <a:r>
              <a:t>Q3 指引 8.6–9.4 億美元，季增約 40%</a:t>
            </a:r>
          </a:p>
          <a:p>
            <a:pPr/>
            <a:r>
              <a:t>年化約 36 億美元 vs. 2026 營收指引 124–132 億美元</a:t>
            </a:r>
          </a:p>
          <a:p>
            <a:pPr/>
            <a:r>
              <a:t>Q2 淨損 6.26 億美元，利息是虧損主因之一</a:t>
            </a:r>
          </a:p>
          <a:p>
            <a:pPr/>
            <a:r>
              <a:t>新的公司層資金若以 15% 成本取得，負擔將再加重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解讀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淨利息費用（百萬美元）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利息費用年化約 36 億美元，約占營收 28%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28" y="1592263"/>
          <a:ext cx="5617746" cy="4752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Q2 2026 財報與指引；資料日期：2026/8/11。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融資需求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2026 下半年與 2027 年資金缺口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下半年資金大致打平，但緩衝僅約 10–15 億美元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998"/>
                <a:gridCol w="2764998"/>
                <a:gridCol w="4871664"/>
                <a:gridCol w="1316666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資金用途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億美元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資金來源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億美元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下半年資本支出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199（179–219）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6/30 現金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下半年到期本金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6/30 未動用額度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101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7–9 月新融資（DDTL 5.5 + 可轉債）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下半年營運現金流（假設同上半年）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37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資料來源：本報告估算：全年資本支出指引 350–390 億減上半年 171 億；未動用額度多綁定特定合約；現金須保留營運水位；資料日期：2026/6/30。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年估計仍需新融資約 280–330 億美元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6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608"/>
                <a:gridCol w="2209429"/>
                <a:gridCol w="6628289"/>
              </a:tblGrid>
              <a:tr h="431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億美元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假設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資本支出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370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與 2026 年指引中值持平；公司尚未給 2027 指引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到期本金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10-Q 到期表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減：營運現金流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−100 ～ −150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營收成長、含客戶預付款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新融資需求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約 280–330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與 2026 年發行量相當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資料來源：本報告情境估算；CoreWeave 10-Q、Q2 2026 法說會；資料日期：2026/10/15。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專案層管道仍開放，公司層無擔保債已近乎關閉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732"/>
                <a:gridCol w="4076398"/>
                <a:gridCol w="5435197"/>
              </a:tblGrid>
              <a:tr h="43180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專案層（DDTL）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公司層（無擔保債／可轉債／股權）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用途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已簽約客戶的 GPU 與設備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股本份額、資料中心、營運資金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擔保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GPU 與客戶合約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目前成本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SOFR+225～+550bp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無擔保債殖利率約 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市場狀況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 月 DDTL 5.5 超額認購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新無擔保債幾乎不可行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合約年期縮短（約 3 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依賴可轉債與 ATM，股東稀釋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資料來源：CoreWeave 公司公告、TRACE、Bloomberg；資料日期：2026/10/15。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後續觀察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公司層資金管道的訊號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觀察重點：ATM 動用、下一筆發債條件與 Q3 財報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7988" y="1203650"/>
          <a:ext cx="1132332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681"/>
                <a:gridCol w="5959646"/>
              </a:tblGrid>
              <a:tr h="431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觀察項目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為什麼重要</a:t>
                      </a:r>
                    </a:p>
                  </a:txBody>
                  <a:tcPr anchor="ctr">
                    <a:solidFill>
                      <a:srgbClr val="00377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ATM 實際動用量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公司層資金是否已開始依賴增資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下一筆 DDTL 的利率與條款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專案層管道是否也開始收緊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是否再發無擔保債或改用有擔保結構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測試公司層市場是否重新打開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Q3 財報（預計 11/9–11/16）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現金餘額、Q4 資本支出、2027 初步指引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S&amp;P／Moody's 評等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市場價格已低於評等，調降機率上升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資料來源：本報告整理；資料日期：2026/10/15。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bc59d3-45e3-4ebf-ab19-686277327d0a">
      <Terms xmlns="http://schemas.microsoft.com/office/infopath/2007/PartnerControls"/>
    </lcf76f155ced4ddcb4097134ff3c332f>
    <TaxCatchAll xmlns="b16bef46-1eec-4b5f-ad0d-963b9aa61a0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B5AF206868D8874A843B10EEED0C3539" ma:contentTypeVersion="12" ma:contentTypeDescription="建立新的文件。" ma:contentTypeScope="" ma:versionID="10f3a2e85540134f41ea3f153298aa01">
  <xsd:schema xmlns:xsd="http://www.w3.org/2001/XMLSchema" xmlns:xs="http://www.w3.org/2001/XMLSchema" xmlns:p="http://schemas.microsoft.com/office/2006/metadata/properties" xmlns:ns2="4bbc59d3-45e3-4ebf-ab19-686277327d0a" xmlns:ns3="b16bef46-1eec-4b5f-ad0d-963b9aa61a0b" targetNamespace="http://schemas.microsoft.com/office/2006/metadata/properties" ma:root="true" ma:fieldsID="adc88520e3faaa04d49c78356d579868" ns2:_="" ns3:_="">
    <xsd:import namespace="4bbc59d3-45e3-4ebf-ab19-686277327d0a"/>
    <xsd:import namespace="b16bef46-1eec-4b5f-ad0d-963b9aa61a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bc59d3-45e3-4ebf-ab19-686277327d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影像標籤" ma:readOnly="false" ma:fieldId="{5cf76f15-5ced-4ddc-b409-7134ff3c332f}" ma:taxonomyMulti="true" ma:sspId="d4ac73bf-4f50-40c3-83c9-ed5c9e1f35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bef46-1eec-4b5f-ad0d-963b9aa61a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723ea26-017c-4025-845e-9bb91ee23d61}" ma:internalName="TaxCatchAll" ma:showField="CatchAllData" ma:web="b16bef46-1eec-4b5f-ad0d-963b9aa61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27931-9195-4DD8-BCF1-F6FDE9E763C2}">
  <ds:schemaRefs>
    <ds:schemaRef ds:uri="http://schemas.microsoft.com/office/2006/metadata/properties"/>
    <ds:schemaRef ds:uri="http://schemas.microsoft.com/office/infopath/2007/PartnerControls"/>
    <ds:schemaRef ds:uri="4bbc59d3-45e3-4ebf-ab19-686277327d0a"/>
    <ds:schemaRef ds:uri="b16bef46-1eec-4b5f-ad0d-963b9aa61a0b"/>
  </ds:schemaRefs>
</ds:datastoreItem>
</file>

<file path=customXml/itemProps2.xml><?xml version="1.0" encoding="utf-8"?>
<ds:datastoreItem xmlns:ds="http://schemas.openxmlformats.org/officeDocument/2006/customXml" ds:itemID="{31625F82-C534-43BE-99C3-57027BEC9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bc59d3-45e3-4ebf-ab19-686277327d0a"/>
    <ds:schemaRef ds:uri="b16bef46-1eec-4b5f-ad0d-963b9aa61a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555B60-B245-449C-81A3-05918641C5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1</TotalTime>
  <Words>16</Words>
  <Application>Microsoft Office PowerPoint</Application>
  <PresentationFormat>寬螢幕</PresentationFormat>
  <Paragraphs>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Wingdings</vt:lpstr>
      <vt:lpstr>佈景主題3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林威宇WeiYuLin-HR-KGISEC</cp:lastModifiedBy>
  <cp:revision>3</cp:revision>
  <dcterms:created xsi:type="dcterms:W3CDTF">2025-04-01T01:37:12Z</dcterms:created>
  <dcterms:modified xsi:type="dcterms:W3CDTF">2026-10-12T02:47:09Z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0x010100B5AF206868D8874A843B10EEED0C3539</vt:lpwstr>
  </property>
</Properties>
</file>