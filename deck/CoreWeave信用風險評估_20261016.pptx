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9"/>
    <p:sldId id="257" r:id="rId10"/>
    <p:sldId id="258" r:id="rId8"/>
    <p:sldId id="259" r:id="rId7"/>
    <p:sldId id="260" r:id="rId6"/>
    <p:sldId id="261" r:id="rId5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5Y CDS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Sheet1!$A$2:$A$4</c:f>
              <c:strCache>
                <c:ptCount val="3"/>
                <c:pt idx="0">
                  <c:v>10/6</c:v>
                </c:pt>
                <c:pt idx="1">
                  <c:v>10/9</c:v>
                </c:pt>
                <c:pt idx="2">
                  <c:v>10/15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368</c:v>
                </c:pt>
                <c:pt idx="1">
                  <c:v>643</c:v>
                </c:pt>
                <c:pt idx="2">
                  <c:v>1194.5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t>bp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利息費用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Sheet1!$A$2:$A$3</c:f>
              <c:strCache>
                <c:ptCount val="2"/>
                <c:pt idx="0">
                  <c:v>Q2 實際</c:v>
                </c:pt>
                <c:pt idx="1">
                  <c:v>Q3 指引中值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</c:v>
                </c:pt>
                <c:pt idx="1">
                  <c:v>900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營收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Sheet1!$A$2:$A$3</c:f>
              <c:strCache>
                <c:ptCount val="2"/>
                <c:pt idx="0">
                  <c:v>上半年實際</c:v>
                </c:pt>
                <c:pt idx="1">
                  <c:v>下半年隱含（中值）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4.68</c:v>
                </c:pt>
                <c:pt idx="1">
                  <c:v>7.8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subtitle here</a:t>
            </a:r>
            <a:r>
              <a:rPr lang="en-US" altLang="zh-TW" dirty="0"/>
              <a:t>/</a:t>
            </a:r>
            <a:r>
              <a:rPr lang="zh-TW" altLang="en-US" dirty="0"/>
              <a:t>副標題</a:t>
            </a:r>
            <a:endParaRPr lang="en-GB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dirty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</a:p>
          <a:p>
            <a:pPr lvl="0"/>
            <a:r>
              <a:rPr lang="en-US" dirty="0"/>
              <a:t>Name / Presenter</a:t>
            </a:r>
            <a:br>
              <a:rPr lang="en-US" dirty="0"/>
            </a:br>
            <a:r>
              <a:rPr lang="en-US" dirty="0"/>
              <a:t>Company Name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  <a:br>
              <a:rPr lang="en-US" dirty="0"/>
            </a:br>
            <a:r>
              <a:rPr lang="en-US" altLang="zh-TW" dirty="0"/>
              <a:t>Company Name</a:t>
            </a:r>
            <a:endParaRPr lang="en-GB" dirty="0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GB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 dirty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section here</a:t>
            </a:r>
            <a:r>
              <a:rPr lang="en-US" altLang="zh-TW" dirty="0"/>
              <a:t>/</a:t>
            </a:r>
            <a:r>
              <a:rPr lang="zh-TW" altLang="en-US" dirty="0"/>
              <a:t>過場頁</a:t>
            </a:r>
            <a:endParaRPr lang="en-GB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subsection here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 dirty="0"/>
              <a:t>01</a:t>
            </a:r>
            <a:r>
              <a:rPr lang="en-US" altLang="zh-TW" dirty="0"/>
              <a:t>/</a:t>
            </a:r>
            <a:r>
              <a:rPr lang="zh-TW" altLang="en-US" dirty="0"/>
              <a:t>章節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 dirty="0">
                <a:solidFill>
                  <a:schemeClr val="tx2"/>
                </a:solidFill>
              </a:rPr>
              <a:t>THANK YOU</a:t>
            </a:r>
            <a:endParaRPr kumimoji="1" lang="zh-TW" altLang="en-US" sz="6600" b="1" dirty="0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jpg"/><Relationship Id="rId4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1143003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1846" y="5997333"/>
            <a:ext cx="3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債券與 CDS 進入困境區間，關鍵在於持續融資能力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CoreWeave（CRWV）信用風險評估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2026.10.16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結論與風險總覽</a:t>
            </a:r>
          </a:p>
          <a:p>
            <a:r>
              <a:t>信用市場訊號</a:t>
            </a:r>
          </a:p>
          <a:p>
            <a:r>
              <a:t>基本面風險</a:t>
            </a:r>
          </a:p>
          <a:p>
            <a:r>
              <a:t>支撐因素與後續觀察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結論與風險總覽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七大風險面向：兩項高、四項偏高或需注意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5Y CDS 由 10/6 的 368bp 升至 10/15 的 1,194.5bp，創歷史新高</a:t>
            </a:r>
          </a:p>
          <a:p>
            <a:pPr lvl="1"/>
            <a:r>
              <a:t>隱含 5 年違約機率約 60–63%（回收率假設 40%）</a:t>
            </a:r>
          </a:p>
          <a:p>
            <a:pPr/>
            <a:r>
              <a:t>無擔保債跌破 80 美分，殖利率逾 15%；評等仍為 B+ / Ba3</a:t>
            </a:r>
          </a:p>
          <a:p>
            <a:pPr/>
            <a:r>
              <a:t>短期無到期壓力：2027 年底前到期約 106 億美元，流動性 156 億美元</a:t>
            </a:r>
          </a:p>
          <a:p>
            <a:pPr/>
            <a:r>
              <a:t>核心風險：2026 年資本支出 350–390 億美元，須持續外部融資</a:t>
            </a:r>
          </a:p>
          <a:p>
            <a:pPr lvl="1"/>
            <a:r>
              <a:t>融資成本升至 15% 或市場關門，擴張與 backlog 交付將受影響</a:t>
            </a:r>
          </a:p>
          <a:p>
            <a:pPr/>
            <a:r>
              <a:t>基本面未轉壞：backlog 1,042 億美元，Nvidia 有產能回購承諾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信用指標已進入困境區間，關鍵在持續融資能力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資料來源：Bloomberg、ICE、TRACE、CoreWeave 10-Q；資料日期：2026/10/15。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七大風險面向：市場信用與獲利能力為高風險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6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3829"/>
                <a:gridCol w="1041225"/>
                <a:gridCol w="7028272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風險面向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評等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重點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 市場隱含信用風險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CDS 1,194.5bp，債價 &lt; 80，殖利率 &gt; 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2. 再融資與流動性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偏高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短期可應付；資本支出缺口須持續融資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3. 獲利與償債能力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Q2 淨損 6.26 億美元；Q3 利息費用季增約 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4. 客戶集中與交易對手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偏高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前兩大客戶約占營收 65%，曝險移向 OpenAI、Meta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5. 執行與交付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全年營收集中下半年，Q3 財報為首個檢驗點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6. 擔保品與技術折舊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GPU 擔保貸款 136 億美元；貸款 5 年 vs. 合約約 3 年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7. 傳染與系統風險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偏高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Nebius、Oracle 同步下跌，被視為 AI 信貸指標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資料來源：Bloomberg、CNBC、CoreWeave 10-Q；本報告整理；資料日期：2026/10/15。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信用市場訊號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CDS、債券價格與評等落差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1,000bp 一般視為信用困境門檻</a:t>
            </a:r>
          </a:p>
          <a:p>
            <a:pPr/>
            <a:r>
              <a:t>隱含年違約率 ≈ 1,194.5 ÷ (1 − 40%) ≈ 19.9%</a:t>
            </a:r>
          </a:p>
          <a:p>
            <a:pPr/>
            <a:r>
              <a:t>5 年累積違約機率約 63%；7 月底約 50%</a:t>
            </a:r>
          </a:p>
          <a:p>
            <a:pPr/>
            <a:r>
              <a:t>10/15 為盤中高點，同日黃仁勳發言後股價反彈 5.94%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解讀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CoreWeave 5Y CDS（bp）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5Y CDS 七個交易日內從 368bp 升至 1,194.5bp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資料來源：ICE Data Services、Bloomberg；資料日期：2026/10/15。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債價跌破 80、殖利率逾 15%，市場定價遠低於評等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3606"/>
                <a:gridCol w="3063959"/>
                <a:gridCol w="4795762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數值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說明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5Y CDS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1,194.5bp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10/15 盤中歷史新高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2031 年 9% 無擔保債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79.9 / 殖利率 15.6%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10/14 單日跌 3.3 美分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2031 年 9.75% 無擔保債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78.65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單日跌約 2.6 美分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股價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10/14 收 65.78 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四個交易日市值蒸發逾 100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S&amp;P / Moody's 評等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B+ / Ba3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投機級但非困境；待核對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可轉債轉換價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97.85 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股價遠低於此，可轉債實質為純債務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資料來源：TRACE、ICE、Bloomberg、CNBC；資料日期：2026/10/15。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基本面風險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融資缺口、獲利、客戶集中與執行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流動性足以支應 2027 年底前到期本金</a:t>
            </a:r>
          </a:p>
          <a:p>
            <a:pPr/>
            <a:r>
              <a:t>資本支出遠大於營運現金流，須每季持續融資</a:t>
            </a:r>
          </a:p>
          <a:p>
            <a:pPr/>
            <a:r>
              <a:t>9 月發行 2.875% 可轉債 37 億美元（2033 年到期）</a:t>
            </a:r>
          </a:p>
          <a:p>
            <a:pPr/>
            <a:r>
              <a:t>另設最多 3,500 萬股 ATM 增資計畫</a:t>
            </a:r>
          </a:p>
          <a:p>
            <a:pPr/>
            <a:r>
              <a:t>融資成本若維持 15%，擴張計畫勢必減速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解讀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債務與流動性（2026/6/30，十億美元）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短期到期可應付，但資本支出缺口須持續外部融資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7728" y="1592263"/>
          <a:ext cx="5617745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267"/>
                <a:gridCol w="1366478"/>
              </a:tblGrid>
              <a:tr h="431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金額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債務本金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35.6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2026 下半年到期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4.4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2027 年到期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現金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5.5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總流動性（含可動用額度）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15.6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2026 資本支出指引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35–39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10-Q、Forbes、公司公告；資料日期：2026/6/30。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營收（十億美元）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淨利息費用（百萬美元）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利息費用季增約 40%，全年營收集中於下半年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14668" y="1592263"/>
          <a:ext cx="5627077" cy="4752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Q2 財報與指引；Q3 利息指引 8.6–9.4 億美元，全年營收指引 124–132 億美元；資料日期：2026/8/11。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2026 年底目標上線電力 1.7GW；2025 年曾因開發商延遲下修營收</a:t>
            </a:r>
          </a:p>
          <a:p>
            <a:pPr/>
            <a:r>
              <a:t>GPU 擔保貸款 136 億美元，為最大債務類別</a:t>
            </a:r>
          </a:p>
          <a:p>
            <a:pPr/>
            <a:r>
              <a:t>貸款年期約 5 年，客戶合約平均約 3 年</a:t>
            </a:r>
          </a:p>
          <a:p>
            <a:pPr/>
            <a:r>
              <a:t>Nebius 10/14 跌破 200 美元，Oracle 同步走弱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執行、擔保品與傳染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/>
            <a:r>
              <a:t>2025 全年：Microsoft 約占營收 67%</a:t>
            </a:r>
          </a:p>
          <a:p>
            <a:pPr/>
            <a:r>
              <a:t>2026 Q1：前兩大客戶合計約 65%</a:t>
            </a:r>
          </a:p>
          <a:p>
            <a:pPr/>
            <a:r>
              <a:t>新合約：Meta 約 210 億美元、OpenAI、Anthropic、Google</a:t>
            </a:r>
          </a:p>
          <a:p>
            <a:pPr/>
            <a:r>
              <a:t>曝險由 Microsoft 移向 OpenAI（非投資等級、仍在燒錢）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客戶集中與交易對手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客戶曝險移向 OpenAI 與 Meta，GPU 貸款有期限錯配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10-K、10-Q、SemiAnalysis、TheStreet；資料日期：2026/10/15。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支撐因素與後續觀察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反方觀點與關鍵事件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Backlog 需先投入資本支出才能轉為營收</a:t>
            </a:r>
          </a:p>
          <a:p>
            <a:pPr/>
            <a:r>
              <a:t>交付前現金流為負，仍須依賴融資</a:t>
            </a:r>
          </a:p>
          <a:p>
            <a:pPr/>
            <a:r>
              <a:t>Bernstein 維持表現落後大盤，稱商業模式「經濟上有挑戰」</a:t>
            </a:r>
          </a:p>
          <a:p>
            <a:pPr/>
            <a:r>
              <a:t>評等與市場價格落差大，評等下調風險上升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保留意見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/>
            <a:r>
              <a:t>Backlog 1,042 億美元，年增約 246%</a:t>
            </a:r>
          </a:p>
          <a:p>
            <a:pPr lvl="1"/>
            <a:r>
              <a:t>Q3 初新增逾 250 億美元，多為 take-or-pay 長約</a:t>
            </a:r>
          </a:p>
          <a:p>
            <a:pPr/>
            <a:r>
              <a:t>Nvidia 持股約 20 億美元，承諾 2032 年前最多回購 63 億美元閒置產能</a:t>
            </a:r>
          </a:p>
          <a:p>
            <a:pPr/>
            <a:r>
              <a:t>Deutsche Bank 維持買進，目標價 150 美元</a:t>
            </a:r>
          </a:p>
          <a:p>
            <a:pPr/>
            <a:r>
              <a:t>ARK 逢低買進約 1,340 萬美元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支撐因素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與 Nvidia 提供支撐，但無法取代融資管道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資料來源：Bloomberg、Benzinga、CoreWeave Q2 財報；資料日期：2026/10/15。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後續關鍵觀察：超大雲端業者資本支出與 Q3 財報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8189"/>
                <a:gridCol w="4313648"/>
                <a:gridCol w="4421489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事件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觀察重點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 月下旬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Microsoft、Meta、Google、Amazon 財報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資本支出指引是否維持或上調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持續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5Y CDS 走勢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能否回落至 1,000bp 以下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持續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S&amp;P / Moody's 評等動作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負面展望或調降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持續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ATM 動用、新發債或貸款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融資利率與條款變化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11/9–11/16（未確認）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Q3 財報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營收指引 34–36 億美元，下半年能否達標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資料來源：公司指引、Benzinga 市場預估；資料日期：2026/10/15。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佈景主題3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3" id="{99230912-EC4A-D44D-8896-138DCE89FCDF}" vid="{1C06976D-9AC1-B042-81C6-58295AD82A43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bc59d3-45e3-4ebf-ab19-686277327d0a">
      <Terms xmlns="http://schemas.microsoft.com/office/infopath/2007/PartnerControls"/>
    </lcf76f155ced4ddcb4097134ff3c332f>
    <TaxCatchAll xmlns="b16bef46-1eec-4b5f-ad0d-963b9aa61a0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B5AF206868D8874A843B10EEED0C3539" ma:contentTypeVersion="12" ma:contentTypeDescription="建立新的文件。" ma:contentTypeScope="" ma:versionID="10f3a2e85540134f41ea3f153298aa01">
  <xsd:schema xmlns:xsd="http://www.w3.org/2001/XMLSchema" xmlns:xs="http://www.w3.org/2001/XMLSchema" xmlns:p="http://schemas.microsoft.com/office/2006/metadata/properties" xmlns:ns2="4bbc59d3-45e3-4ebf-ab19-686277327d0a" xmlns:ns3="b16bef46-1eec-4b5f-ad0d-963b9aa61a0b" targetNamespace="http://schemas.microsoft.com/office/2006/metadata/properties" ma:root="true" ma:fieldsID="adc88520e3faaa04d49c78356d579868" ns2:_="" ns3:_="">
    <xsd:import namespace="4bbc59d3-45e3-4ebf-ab19-686277327d0a"/>
    <xsd:import namespace="b16bef46-1eec-4b5f-ad0d-963b9aa61a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bc59d3-45e3-4ebf-ab19-686277327d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影像標籤" ma:readOnly="false" ma:fieldId="{5cf76f15-5ced-4ddc-b409-7134ff3c332f}" ma:taxonomyMulti="true" ma:sspId="d4ac73bf-4f50-40c3-83c9-ed5c9e1f35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bef46-1eec-4b5f-ad0d-963b9aa61a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723ea26-017c-4025-845e-9bb91ee23d61}" ma:internalName="TaxCatchAll" ma:showField="CatchAllData" ma:web="b16bef46-1eec-4b5f-ad0d-963b9aa61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27931-9195-4DD8-BCF1-F6FDE9E763C2}">
  <ds:schemaRefs>
    <ds:schemaRef ds:uri="http://schemas.microsoft.com/office/2006/metadata/properties"/>
    <ds:schemaRef ds:uri="http://schemas.microsoft.com/office/infopath/2007/PartnerControls"/>
    <ds:schemaRef ds:uri="4bbc59d3-45e3-4ebf-ab19-686277327d0a"/>
    <ds:schemaRef ds:uri="b16bef46-1eec-4b5f-ad0d-963b9aa61a0b"/>
  </ds:schemaRefs>
</ds:datastoreItem>
</file>

<file path=customXml/itemProps2.xml><?xml version="1.0" encoding="utf-8"?>
<ds:datastoreItem xmlns:ds="http://schemas.openxmlformats.org/officeDocument/2006/customXml" ds:itemID="{31625F82-C534-43BE-99C3-57027BEC9D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bc59d3-45e3-4ebf-ab19-686277327d0a"/>
    <ds:schemaRef ds:uri="b16bef46-1eec-4b5f-ad0d-963b9aa61a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555B60-B245-449C-81A3-05918641C5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證券_藍_簡報模板（Final）</Template>
  <TotalTime>1</TotalTime>
  <Words>16</Words>
  <Application>Microsoft Office PowerPoint</Application>
  <PresentationFormat>寬螢幕</PresentationFormat>
  <Paragraphs>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Arial</vt:lpstr>
      <vt:lpstr>Calibri</vt:lpstr>
      <vt:lpstr>Symbol</vt:lpstr>
      <vt:lpstr>Wingdings</vt:lpstr>
      <vt:lpstr>佈景主題3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KGI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林佳蓁JoyceLin-PR-KGISEC</dc:creator>
  <cp:lastModifiedBy>林威宇WeiYuLin-HR-KGISEC</cp:lastModifiedBy>
  <cp:revision>3</cp:revision>
  <dcterms:created xsi:type="dcterms:W3CDTF">2025-04-01T01:37:12Z</dcterms:created>
  <dcterms:modified xsi:type="dcterms:W3CDTF">2026-10-12T02:47:09Z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0x010100B5AF206868D8874A843B10EEED0C3539</vt:lpwstr>
  </property>
</Properties>
</file>